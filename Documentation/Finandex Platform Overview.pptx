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5622d821-360f-8b76-2c1c-ffec8b5ba3cb}">
          <p14:sldIdLst>
            <p14:sldId id="256"/>
            <p14:sldId id="257"/>
          </p14:sldIdLst>
        </p14:section>
        <p14:section name="Masalah &amp; solusi" id="{fd26e5c2-c052-ac95-3b34-1858537a5f3c}">
          <p14:sldIdLst>
            <p14:sldId id="258"/>
            <p14:sldId id="259"/>
          </p14:sldIdLst>
        </p14:section>
        <p14:section name="Produk" id="{cc8bb413-5db6-2ed0-2c76-a9f2c3216141}">
          <p14:sldIdLst>
            <p14:sldId id="260"/>
          </p14:sldIdLst>
        </p14:section>
        <p14:section name="Arsitektur &amp; tech stack" id="{f15368d2-4a30-a754-ed4f-62c982797468}">
          <p14:sldIdLst>
            <p14:sldId id="261"/>
            <p14:sldId id="262"/>
            <p14:sldId id="263"/>
            <p14:sldId id="264"/>
            <p14:sldId id="265"/>
          </p14:sldIdLst>
        </p14:section>
        <p14:section name="Platform &amp; desain" id="{c5b21621-e85c-990e-fcae-475d9918da2c}">
          <p14:sldIdLst>
            <p14:sldId id="266"/>
            <p14:sldId id="267"/>
          </p14:sldIdLst>
        </p14:section>
        <p14:section name="Hukum &amp; anti-scam" id="{2cf52680-486f-b126-2a75-58be0f74fde9}">
          <p14:sldIdLst>
            <p14:sldId id="268"/>
            <p14:sldId id="269"/>
            <p14:sldId id="270"/>
          </p14:sldIdLst>
        </p14:section>
        <p14:section name="Rilis &amp; dokumen" id="{32f70309-6b0f-f36c-477a-96b9fe1b4a60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9F5E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9F5EC"/>
                </a:solidFill>
                <a:latin typeface="+mn-lt"/>
              </a:rPr>
              <a:t>Laporan ke IASC (kumulatif)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Laporan kumulatif</c:v>
                </c:pt>
              </c:strCache>
            </c:strRef>
          </c:tx>
          <c:spPr>
            <a:solidFill>
              <a:srgbClr val="19F23A"/>
            </a:solidFill>
            <a:ln w="31750" cap="flat">
              <a:solidFill>
                <a:srgbClr val="19F2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9F5EC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9F23A"/>
              </a:solidFill>
              <a:ln w="9525" cap="flat">
                <a:solidFill>
                  <a:srgbClr val="19F2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14 Jan 26</c:v>
                  </c:pt>
                  <c:pt idx="1">
                    <c:v>31 Mei 26</c:v>
                  </c:pt>
                  <c:pt idx="2">
                    <c:v>31 Jul 26</c:v>
                  </c:pt>
                  <c:pt idx="3">
                    <c:v>30 Sep 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432637</c:v>
                </c:pt>
                <c:pt idx="1">
                  <c:v>579459</c:v>
                </c:pt>
                <c:pt idx="2">
                  <c:v>637055</c:v>
                </c:pt>
                <c:pt idx="3">
                  <c:v>702342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9F5EC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E9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412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E9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9F5E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9F5EC"/>
                </a:solidFill>
                <a:latin typeface="+mn-lt"/>
              </a:rPr>
              <a:t>Dana korban (Rp miliar)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Dana diblokir</c:v>
                </c:pt>
              </c:strCache>
            </c:strRef>
          </c:tx>
          <c:spPr>
            <a:solidFill>
              <a:srgbClr val="FFB23E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9F5E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31 Mei 26</c:v>
                  </c:pt>
                  <c:pt idx="1">
                    <c:v>31 Jul 26</c:v>
                  </c:pt>
                  <c:pt idx="2">
                    <c:v>30 Sep 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638.9</c:v>
                </c:pt>
                <c:pt idx="1">
                  <c:v>724.1</c:v>
                </c:pt>
                <c:pt idx="2">
                  <c:v>811.1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Dana dikembalikan</c:v>
                </c:pt>
              </c:strCache>
            </c:strRef>
          </c:tx>
          <c:spPr>
            <a:solidFill>
              <a:srgbClr val="19F23A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9F5E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31 Mei 26</c:v>
                  </c:pt>
                  <c:pt idx="1">
                    <c:v>31 Jul 26</c:v>
                  </c:pt>
                  <c:pt idx="2">
                    <c:v>30 Sep 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169.3</c:v>
                </c:pt>
                <c:pt idx="1">
                  <c:v>204.3</c:v>
                </c:pt>
                <c:pt idx="2">
                  <c:v>207.16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000" u="none">
                  <a:solidFill>
                    <a:srgbClr val="E9F5E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E9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412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E9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3AE9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Finandex: aplikasi insights indeks pasar keuangan dengan 29 chatbot (Dex). Satu codebase untuk web/PWA, iOS, Android, macOS, dan Windows. Dirancang dan dikembangkan oleh Dea Saka Kurnia Putra.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angka kunci. Prinsip utama: model bahasa tidak boleh menghitung atau mengingat angka; semua angka dari tool deterministik.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statistik IASC: konferensi pers OJK 5 Oktober 2026 (Kontan, Bisnis.com).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Kategori: Pasar Global &amp; Saham (5); Pasar &amp; Ekonomi Indonesia (4); Kripto &amp; Makro Global (3); Startup, VC &amp; Perusahaan (4); Biaya Hidup, Kerja &amp; Rumah Tangga (4); Sosial &amp; Pembangunan (4); Sentimen &amp; Keuangan Pribadi (2); Hukum &amp; Pelindungan Konsumen (3).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 justifikasi dibangkitkan dari event method milik tool, bukan dari proses berpikir internal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 runtime-agnostik (Web Fetch API) dengan adapter Vercel &amp; Netlify. Data dibangun di CI lalu dilayani sebagai file statis. Klien mobile &amp; desktop memakai build web yang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 paket npm di root repo agar kompatibel dengan Lovable.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Tidak mengirim temperature/top_p/top_k. Tool hanya baca data, tanpa URL dari pengguna.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Toleransi golden relatif 1e-6; tanggal, string, dan flag harus sama persis.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Semua gate dijalankan oleh npm run verify sebelum rilis.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Pusat pemasangan memakai feature detection &amp; User-Agent Client Hints, tanpa fingerprinting.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Desain diuji dengan prompt UIUX_TEST_PROMPT.md: audit token, regresi visual, a11y, performa gerak, dan tinjauan berskor.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Keduanya Dex terpisah dengan dataset, menu, logo, dan riwayat sendiri; juga tersedia sebagai PWA terpisah.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 hanya memakai titik bertanggal pasti dari siaran pers/berita lengkap; titik yang hanya berasal dari judul berita tidak digambar di sini.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Kebijakan privasi mengacu UU No. 27 Tahun 2022 tentang Pelindungan Data Pribadi.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branch Vercel &amp; Netlify = release. Workflow desktop.yml membangun macOS &amp; Windows; android.yml &amp; ios.yml membangun aplikasi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Whitepaper dibangun ulang dengan kit/whitepaper/build_whitepaper.py; setiap file punya SHA-256 di whitepaper_manifest.json.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ADD_NEW_DEX_PROMPT.md untuk fitur baru; UPDATE_V3_PROMPT.md untuk repo yang sudah dibangun dari v2.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X_TITLE">
    <p:bg>
      <p:bgPr>
        <a:solidFill>
          <a:srgbClr val="07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X_CONTENT">
    <p:bg>
      <p:bgPr>
        <a:solidFill>
          <a:srgbClr val="07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E9D"/>
                </a:solidFill>
              </a:rPr>
              <a:t>© 2026 Dea Saka Kurnia Putra. Hak cipta dilindungi undang-undang.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slideLayout" Target="../slideLayouts/slideLayout3.xml"/><Relationship Id="rId3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Finandex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Wawasan indeks pasar keuangan global — 29 chatbot berbasis data dalam satu aplikasi web, mobile, dan desktop</a:t>
            </a:r>
            <a:endParaRPr lang="en-US" sz="2000" dirty="0"/>
          </a:p>
        </p:txBody>
      </p:sp>
      <p:pic>
        <p:nvPicPr>
          <p:cNvPr id="4" name="app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1005840" cy="1005840"/>
          </a:xfrm>
          <a:prstGeom prst="rect">
            <a:avLst/>
          </a:prstGeom>
        </p:spPr>
      </p:pic>
      <p:sp>
        <p:nvSpPr>
          <p:cNvPr id="5" name="motif-line"/>
          <p:cNvSpPr/>
          <p:nvPr/>
        </p:nvSpPr>
        <p:spPr>
          <a:xfrm flipV="1">
            <a:off x="9654076" y="3108960"/>
            <a:ext cx="239732" cy="289047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6" name="motif-line"/>
          <p:cNvSpPr/>
          <p:nvPr/>
        </p:nvSpPr>
        <p:spPr>
          <a:xfrm flipV="1">
            <a:off x="9464153" y="3108960"/>
            <a:ext cx="429655" cy="30350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7" name="motif-line"/>
          <p:cNvSpPr/>
          <p:nvPr/>
        </p:nvSpPr>
        <p:spPr>
          <a:xfrm flipV="1">
            <a:off x="9893808" y="2684938"/>
            <a:ext cx="158603" cy="424022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8" name="motif-line"/>
          <p:cNvSpPr/>
          <p:nvPr/>
        </p:nvSpPr>
        <p:spPr>
          <a:xfrm flipV="1">
            <a:off x="9893808" y="1095657"/>
            <a:ext cx="432277" cy="2013303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9" name="motif-line"/>
          <p:cNvSpPr/>
          <p:nvPr/>
        </p:nvSpPr>
        <p:spPr>
          <a:xfrm flipV="1">
            <a:off x="9893808" y="1482684"/>
            <a:ext cx="490709" cy="1626276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0" name="motif-line"/>
          <p:cNvSpPr/>
          <p:nvPr/>
        </p:nvSpPr>
        <p:spPr>
          <a:xfrm>
            <a:off x="8389877" y="969611"/>
            <a:ext cx="1503931" cy="2139349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1" name="motif-line"/>
          <p:cNvSpPr/>
          <p:nvPr/>
        </p:nvSpPr>
        <p:spPr>
          <a:xfrm>
            <a:off x="8166840" y="2843760"/>
            <a:ext cx="1726968" cy="265200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2" name="motif-line"/>
          <p:cNvSpPr/>
          <p:nvPr/>
        </p:nvSpPr>
        <p:spPr>
          <a:xfrm flipV="1">
            <a:off x="9367708" y="3108960"/>
            <a:ext cx="526100" cy="239232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3" name="motif-line"/>
          <p:cNvSpPr/>
          <p:nvPr/>
        </p:nvSpPr>
        <p:spPr>
          <a:xfrm flipV="1">
            <a:off x="8366490" y="3108960"/>
            <a:ext cx="1527318" cy="2309056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4" name="motif-line"/>
          <p:cNvSpPr/>
          <p:nvPr/>
        </p:nvSpPr>
        <p:spPr>
          <a:xfrm>
            <a:off x="9881942" y="2302477"/>
            <a:ext cx="11866" cy="806483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5" name="motif-line"/>
          <p:cNvSpPr/>
          <p:nvPr/>
        </p:nvSpPr>
        <p:spPr>
          <a:xfrm>
            <a:off x="9095966" y="2395993"/>
            <a:ext cx="797842" cy="712967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6" name="motif-node"/>
          <p:cNvSpPr/>
          <p:nvPr/>
        </p:nvSpPr>
        <p:spPr>
          <a:xfrm>
            <a:off x="9612928" y="3356859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7" name="motif-node"/>
          <p:cNvSpPr/>
          <p:nvPr/>
        </p:nvSpPr>
        <p:spPr>
          <a:xfrm>
            <a:off x="8104409" y="1850454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8" name="motif-node"/>
          <p:cNvSpPr/>
          <p:nvPr/>
        </p:nvSpPr>
        <p:spPr>
          <a:xfrm>
            <a:off x="9423005" y="3098162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9" name="motif-node"/>
          <p:cNvSpPr/>
          <p:nvPr/>
        </p:nvSpPr>
        <p:spPr>
          <a:xfrm>
            <a:off x="7955879" y="4869298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0" name="motif-node"/>
          <p:cNvSpPr/>
          <p:nvPr/>
        </p:nvSpPr>
        <p:spPr>
          <a:xfrm>
            <a:off x="10011263" y="2643790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1" name="motif-node"/>
          <p:cNvSpPr/>
          <p:nvPr/>
        </p:nvSpPr>
        <p:spPr>
          <a:xfrm>
            <a:off x="8784214" y="4405142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2" name="motif-node"/>
          <p:cNvSpPr/>
          <p:nvPr/>
        </p:nvSpPr>
        <p:spPr>
          <a:xfrm>
            <a:off x="10284937" y="1054509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3" name="motif-node"/>
          <p:cNvSpPr/>
          <p:nvPr/>
        </p:nvSpPr>
        <p:spPr>
          <a:xfrm>
            <a:off x="9645663" y="1808140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4" name="motif-node"/>
          <p:cNvSpPr/>
          <p:nvPr/>
        </p:nvSpPr>
        <p:spPr>
          <a:xfrm>
            <a:off x="10343369" y="1441536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5" name="motif-node"/>
          <p:cNvSpPr/>
          <p:nvPr/>
        </p:nvSpPr>
        <p:spPr>
          <a:xfrm>
            <a:off x="9894501" y="3007214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6" name="motif-node"/>
          <p:cNvSpPr/>
          <p:nvPr/>
        </p:nvSpPr>
        <p:spPr>
          <a:xfrm>
            <a:off x="8348729" y="928463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7" name="motif-node"/>
          <p:cNvSpPr/>
          <p:nvPr/>
        </p:nvSpPr>
        <p:spPr>
          <a:xfrm>
            <a:off x="11418231" y="5302063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8" name="motif-node"/>
          <p:cNvSpPr/>
          <p:nvPr/>
        </p:nvSpPr>
        <p:spPr>
          <a:xfrm>
            <a:off x="8125692" y="2802612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9" name="motif-node"/>
          <p:cNvSpPr/>
          <p:nvPr/>
        </p:nvSpPr>
        <p:spPr>
          <a:xfrm>
            <a:off x="11484942" y="1589719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0" name="motif-node"/>
          <p:cNvSpPr/>
          <p:nvPr/>
        </p:nvSpPr>
        <p:spPr>
          <a:xfrm>
            <a:off x="9326560" y="3307044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1" name="motif-node"/>
          <p:cNvSpPr/>
          <p:nvPr/>
        </p:nvSpPr>
        <p:spPr>
          <a:xfrm>
            <a:off x="10342990" y="2025664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2" name="motif-node"/>
          <p:cNvSpPr/>
          <p:nvPr/>
        </p:nvSpPr>
        <p:spPr>
          <a:xfrm>
            <a:off x="8325342" y="5376868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3" name="motif-node"/>
          <p:cNvSpPr/>
          <p:nvPr/>
        </p:nvSpPr>
        <p:spPr>
          <a:xfrm>
            <a:off x="9432836" y="1796318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4" name="motif-node"/>
          <p:cNvSpPr/>
          <p:nvPr/>
        </p:nvSpPr>
        <p:spPr>
          <a:xfrm>
            <a:off x="9840794" y="2261329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5" name="motif-node"/>
          <p:cNvSpPr/>
          <p:nvPr/>
        </p:nvSpPr>
        <p:spPr>
          <a:xfrm>
            <a:off x="8257769" y="4365111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6" name="motif-node"/>
          <p:cNvSpPr/>
          <p:nvPr/>
        </p:nvSpPr>
        <p:spPr>
          <a:xfrm>
            <a:off x="9054818" y="2354845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7" name="motif-node"/>
          <p:cNvSpPr/>
          <p:nvPr/>
        </p:nvSpPr>
        <p:spPr>
          <a:xfrm>
            <a:off x="7960225" y="5094567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8" name="motif-core"/>
          <p:cNvSpPr/>
          <p:nvPr/>
        </p:nvSpPr>
        <p:spPr>
          <a:xfrm>
            <a:off x="9774936" y="2990088"/>
            <a:ext cx="237744" cy="237744"/>
          </a:xfrm>
          <a:prstGeom prst="ellipse">
            <a:avLst/>
          </a:prstGeom>
          <a:solidFill>
            <a:srgbClr val="07130D"/>
          </a:solidFill>
          <a:ln w="25400">
            <a:solidFill>
              <a:srgbClr val="19F23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1520" y="4937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F5EC"/>
                </a:solidFill>
              </a:rPr>
              <a:t>Disusun oleh Dea Saka Kurnia Putra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731520" y="5303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E9D"/>
                </a:solidFill>
              </a:rPr>
              <a:t>Versi 1.0, 23 Oktober 2026</a:t>
            </a:r>
            <a:endParaRPr lang="en-US" sz="1300" dirty="0"/>
          </a:p>
        </p:txBody>
      </p:sp>
      <p:pic>
        <p:nvPicPr>
          <p:cNvPr id="41" name="personal-wordmark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" y="5760720"/>
            <a:ext cx="2377440" cy="475488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6583680" y="6355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E9D"/>
                </a:solidFill>
              </a:rPr>
              <a:t>© 2026 Dea Saka Kurnia Putra. Hak cipta dilindungi undang-undang.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aplikasi, 29 chatbot dengan datanya sendiri</a:t>
            </a:r>
            <a:endParaRPr lang="en-US" sz="3400" dirty="0"/>
          </a:p>
        </p:txBody>
      </p:sp>
      <p:sp>
        <p:nvSpPr>
          <p:cNvPr id="3" name="stat-0"/>
          <p:cNvSpPr/>
          <p:nvPr/>
        </p:nvSpPr>
        <p:spPr>
          <a:xfrm>
            <a:off x="548640" y="1417320"/>
            <a:ext cx="2615184" cy="3017520"/>
          </a:xfrm>
          <a:prstGeom prst="roundRect">
            <a:avLst>
              <a:gd name="adj" fmla="val 4895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9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chatbot Dex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masing-masing dengan menu, fitur, logo, dan dataset sendiri</a:t>
            </a:r>
            <a:endParaRPr lang="en-US" sz="1400" dirty="0"/>
          </a:p>
        </p:txBody>
      </p:sp>
      <p:sp>
        <p:nvSpPr>
          <p:cNvPr id="7" name="stat-1"/>
          <p:cNvSpPr/>
          <p:nvPr/>
        </p:nvSpPr>
        <p:spPr>
          <a:xfrm>
            <a:off x="3364992" y="1417320"/>
            <a:ext cx="2615184" cy="3017520"/>
          </a:xfrm>
          <a:prstGeom prst="roundRect">
            <a:avLst>
              <a:gd name="adj" fmla="val 4895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9312" y="1645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3F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kategori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3154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dikelompokkan berdasarkan kemiripan fungsi chatbot</a:t>
            </a:r>
            <a:endParaRPr lang="en-US" sz="1400" dirty="0"/>
          </a:p>
        </p:txBody>
      </p:sp>
      <p:sp>
        <p:nvSpPr>
          <p:cNvPr id="11" name="stat-2"/>
          <p:cNvSpPr/>
          <p:nvPr/>
        </p:nvSpPr>
        <p:spPr>
          <a:xfrm>
            <a:off x="6181344" y="1417320"/>
            <a:ext cx="2615184" cy="3017520"/>
          </a:xfrm>
          <a:prstGeom prst="roundRect">
            <a:avLst>
              <a:gd name="adj" fmla="val 4895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55664" y="1645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645566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dataset unggahan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3154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+ 4 dataset kit: anti-scam, katalog regulasi, alur konsultasi, panduan fitur</a:t>
            </a:r>
            <a:endParaRPr lang="en-US" sz="1400" dirty="0"/>
          </a:p>
        </p:txBody>
      </p:sp>
      <p:sp>
        <p:nvSpPr>
          <p:cNvPr id="15" name="stat-3"/>
          <p:cNvSpPr/>
          <p:nvPr/>
        </p:nvSpPr>
        <p:spPr>
          <a:xfrm>
            <a:off x="8997696" y="1417320"/>
            <a:ext cx="2615184" cy="3017520"/>
          </a:xfrm>
          <a:prstGeom prst="roundRect">
            <a:avLst>
              <a:gd name="adj" fmla="val 4895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72016" y="1645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pertanyaan evaluasi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272016" y="3154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mock 100%, live ≥ 95%, item keamanan 100%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548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F23A"/>
                </a:solidFill>
              </a:rPr>
              <a:t>Angka hanya dari data. </a:t>
            </a:r>
            <a:pPr indent="0" marL="0">
              <a:buNone/>
            </a:pPr>
            <a:r>
              <a:rPr lang="en-US" sz="1600" dirty="0">
                <a:solidFill>
                  <a:srgbClr val="E9F5EC"/>
                </a:solidFill>
              </a:rPr>
              <a:t>Setiap angka berasal dari tool deterministik dan diuji terhadap golden fixtures. Setiap jawaban menampilkan grafik, analisis, panel "Kenapa jawabannya begini?", keterbatasan, dan sumber.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yang diselesaikan</a:t>
            </a:r>
            <a:endParaRPr lang="en-US" sz="3400" dirty="0"/>
          </a:p>
        </p:txBody>
      </p:sp>
      <p:sp>
        <p:nvSpPr>
          <p:cNvPr id="3" name="p-ic-bg-0"/>
          <p:cNvSpPr/>
          <p:nvPr/>
        </p:nvSpPr>
        <p:spPr>
          <a:xfrm>
            <a:off x="548640" y="1371600"/>
            <a:ext cx="822960" cy="822960"/>
          </a:xfrm>
          <a:prstGeom prst="ellipse">
            <a:avLst/>
          </a:prstGeom>
          <a:solidFill>
            <a:srgbClr val="12291E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4" name="p-ic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898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Data keuangan tersebar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77393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Harga, fundamental, makro, kripto, dan data sosial ekonomi ada di format berbeda dengan kualitas tidak seragam.</a:t>
            </a:r>
            <a:endParaRPr lang="en-US" sz="1400" dirty="0"/>
          </a:p>
        </p:txBody>
      </p:sp>
      <p:sp>
        <p:nvSpPr>
          <p:cNvPr id="7" name="p-ic-bg-1"/>
          <p:cNvSpPr/>
          <p:nvPr/>
        </p:nvSpPr>
        <p:spPr>
          <a:xfrm>
            <a:off x="548640" y="2560320"/>
            <a:ext cx="822960" cy="822960"/>
          </a:xfrm>
          <a:prstGeom prst="ellipse">
            <a:avLst/>
          </a:prstGeom>
          <a:solidFill>
            <a:srgbClr val="12291E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8" name="p-ic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5786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Jawaban AI sulit diverifikasi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296265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Chatbot umum menyebut angka tanpa sumber, tanggal data, atau cara menghitung.</a:t>
            </a:r>
            <a:endParaRPr lang="en-US" sz="1400" dirty="0"/>
          </a:p>
        </p:txBody>
      </p:sp>
      <p:sp>
        <p:nvSpPr>
          <p:cNvPr id="11" name="p-ic-bg-2"/>
          <p:cNvSpPr/>
          <p:nvPr/>
        </p:nvSpPr>
        <p:spPr>
          <a:xfrm>
            <a:off x="548640" y="3749040"/>
            <a:ext cx="822960" cy="822960"/>
          </a:xfrm>
          <a:prstGeom prst="ellipse">
            <a:avLst/>
          </a:prstGeom>
          <a:solidFill>
            <a:srgbClr val="12291E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12" name="p-ic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37673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Scam keuangan meningkat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415137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IASC menerima 702.342 laporan sejak 22 November 2024 hingga 30 September 2026; dana diblokir Rp811,1 M.</a:t>
            </a:r>
            <a:endParaRPr lang="en-US" sz="1400" dirty="0"/>
          </a:p>
        </p:txBody>
      </p:sp>
      <p:sp>
        <p:nvSpPr>
          <p:cNvPr id="15" name="p-ic-bg-3"/>
          <p:cNvSpPr/>
          <p:nvPr/>
        </p:nvSpPr>
        <p:spPr>
          <a:xfrm>
            <a:off x="548640" y="4937760"/>
            <a:ext cx="822960" cy="822960"/>
          </a:xfrm>
          <a:prstGeom prst="ellipse">
            <a:avLst/>
          </a:prstGeom>
          <a:solidFill>
            <a:srgbClr val="12291E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16" name="p-ic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12064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45920" y="49560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Literasi hukum terbatas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645920" y="534009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Korban tidak tahu urutan langkah (bank, IASC, Laporan Polisi) dan dasar hukumnya setelah KUHP &amp; KUHAP baru berlaku 2 Januari 2026.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Dex dalam 8 kategori</a:t>
            </a:r>
            <a:endParaRPr lang="en-US" sz="3400" dirty="0"/>
          </a:p>
        </p:txBody>
      </p:sp>
      <p:sp>
        <p:nvSpPr>
          <p:cNvPr id="3" name="grp-global-markets"/>
          <p:cNvSpPr/>
          <p:nvPr/>
        </p:nvSpPr>
        <p:spPr>
          <a:xfrm>
            <a:off x="548640" y="13258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4904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F23A"/>
                </a:solidFill>
              </a:rPr>
              <a:t>Pasar Global &amp; Saham</a:t>
            </a:r>
            <a:endParaRPr lang="en-US" sz="1400" dirty="0"/>
          </a:p>
        </p:txBody>
      </p:sp>
      <p:pic>
        <p:nvPicPr>
          <p:cNvPr id="5" name="ic-finandex-a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03120"/>
            <a:ext cx="384048" cy="384048"/>
          </a:xfrm>
          <a:prstGeom prst="rect">
            <a:avLst/>
          </a:prstGeom>
        </p:spPr>
      </p:pic>
      <p:pic>
        <p:nvPicPr>
          <p:cNvPr id="6" name="ic-nasdaqdex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2103120"/>
            <a:ext cx="384048" cy="384048"/>
          </a:xfrm>
          <a:prstGeom prst="rect">
            <a:avLst/>
          </a:prstGeom>
        </p:spPr>
      </p:pic>
      <p:pic>
        <p:nvPicPr>
          <p:cNvPr id="7" name="ic-snp500dex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2103120"/>
            <a:ext cx="384048" cy="384048"/>
          </a:xfrm>
          <a:prstGeom prst="rect">
            <a:avLst/>
          </a:prstGeom>
        </p:spPr>
      </p:pic>
      <p:pic>
        <p:nvPicPr>
          <p:cNvPr id="8" name="ic-commercedex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8" y="2103120"/>
            <a:ext cx="384048" cy="384048"/>
          </a:xfrm>
          <a:prstGeom prst="rect">
            <a:avLst/>
          </a:prstGeom>
        </p:spPr>
      </p:pic>
      <p:pic>
        <p:nvPicPr>
          <p:cNvPr id="9" name="ic-ipodex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608" y="2103120"/>
            <a:ext cx="384048" cy="38404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749808" y="2606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E9D"/>
                </a:solidFill>
              </a:rPr>
              <a:t>Finandex AI, NASDAQDex, SnP500Dex, CommerceDex, IPODex</a:t>
            </a:r>
            <a:endParaRPr lang="en-US" sz="1100" dirty="0"/>
          </a:p>
        </p:txBody>
      </p:sp>
      <p:sp>
        <p:nvSpPr>
          <p:cNvPr id="11" name="grp-indonesia-markets"/>
          <p:cNvSpPr/>
          <p:nvPr/>
        </p:nvSpPr>
        <p:spPr>
          <a:xfrm>
            <a:off x="3364992" y="13258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3566160" y="14904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F23A"/>
                </a:solidFill>
              </a:rPr>
              <a:t>Pasar &amp; Ekonomi Indonesia</a:t>
            </a:r>
            <a:endParaRPr lang="en-US" sz="1400" dirty="0"/>
          </a:p>
        </p:txBody>
      </p:sp>
      <p:pic>
        <p:nvPicPr>
          <p:cNvPr id="13" name="ic-idfinandex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2103120"/>
            <a:ext cx="384048" cy="384048"/>
          </a:xfrm>
          <a:prstGeom prst="rect">
            <a:avLst/>
          </a:prstGeom>
        </p:spPr>
      </p:pic>
      <p:pic>
        <p:nvPicPr>
          <p:cNvPr id="14" name="ic-rupiahdex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0" y="2103120"/>
            <a:ext cx="384048" cy="384048"/>
          </a:xfrm>
          <a:prstGeom prst="rect">
            <a:avLst/>
          </a:prstGeom>
        </p:spPr>
      </p:pic>
      <p:pic>
        <p:nvPicPr>
          <p:cNvPr id="15" name="ic-idxdex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0" y="2103120"/>
            <a:ext cx="384048" cy="384048"/>
          </a:xfrm>
          <a:prstGeom prst="rect">
            <a:avLst/>
          </a:prstGeom>
        </p:spPr>
      </p:pic>
      <p:pic>
        <p:nvPicPr>
          <p:cNvPr id="16" name="ic-reksadex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103120"/>
            <a:ext cx="384048" cy="384048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3566160" y="2606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E9D"/>
                </a:solidFill>
              </a:rPr>
              <a:t>IDFinanDex, RupiahDex, IDXDex, ReksaDex</a:t>
            </a:r>
            <a:endParaRPr lang="en-US" sz="1100" dirty="0"/>
          </a:p>
        </p:txBody>
      </p:sp>
      <p:sp>
        <p:nvSpPr>
          <p:cNvPr id="18" name="grp-crypto-macro"/>
          <p:cNvSpPr/>
          <p:nvPr/>
        </p:nvSpPr>
        <p:spPr>
          <a:xfrm>
            <a:off x="6181344" y="13258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9" name="Text 8"/>
          <p:cNvSpPr txBox="1"/>
          <p:nvPr/>
        </p:nvSpPr>
        <p:spPr>
          <a:xfrm>
            <a:off x="6382512" y="14904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F23A"/>
                </a:solidFill>
              </a:rPr>
              <a:t>Kripto &amp; Makro Global</a:t>
            </a:r>
            <a:endParaRPr lang="en-US" sz="1400" dirty="0"/>
          </a:p>
        </p:txBody>
      </p:sp>
      <p:pic>
        <p:nvPicPr>
          <p:cNvPr id="20" name="ic-cryptdex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2512" y="2103120"/>
            <a:ext cx="384048" cy="384048"/>
          </a:xfrm>
          <a:prstGeom prst="rect">
            <a:avLst/>
          </a:prstGeom>
        </p:spPr>
      </p:pic>
      <p:pic>
        <p:nvPicPr>
          <p:cNvPr id="21" name="ic-centralbankdex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9712" y="2103120"/>
            <a:ext cx="384048" cy="384048"/>
          </a:xfrm>
          <a:prstGeom prst="rect">
            <a:avLst/>
          </a:prstGeom>
        </p:spPr>
      </p:pic>
      <p:pic>
        <p:nvPicPr>
          <p:cNvPr id="22" name="ic-inflationdex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96912" y="2103120"/>
            <a:ext cx="384048" cy="384048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6382512" y="2606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E9D"/>
                </a:solidFill>
              </a:rPr>
              <a:t>CryptDex, CentralBankDex, InflationDex</a:t>
            </a:r>
            <a:endParaRPr lang="en-US" sz="1100" dirty="0"/>
          </a:p>
        </p:txBody>
      </p:sp>
      <p:sp>
        <p:nvSpPr>
          <p:cNvPr id="24" name="grp-startup-business"/>
          <p:cNvSpPr/>
          <p:nvPr/>
        </p:nvSpPr>
        <p:spPr>
          <a:xfrm>
            <a:off x="8997696" y="13258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25" name="Text 11"/>
          <p:cNvSpPr txBox="1"/>
          <p:nvPr/>
        </p:nvSpPr>
        <p:spPr>
          <a:xfrm>
            <a:off x="9198864" y="14904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F23A"/>
                </a:solidFill>
              </a:rPr>
              <a:t>Startup, VC &amp; Perusahaan</a:t>
            </a:r>
            <a:endParaRPr lang="en-US" sz="1400" dirty="0"/>
          </a:p>
        </p:txBody>
      </p:sp>
      <p:pic>
        <p:nvPicPr>
          <p:cNvPr id="26" name="ic-startupdex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98864" y="2103120"/>
            <a:ext cx="384048" cy="384048"/>
          </a:xfrm>
          <a:prstGeom prst="rect">
            <a:avLst/>
          </a:prstGeom>
        </p:spPr>
      </p:pic>
      <p:pic>
        <p:nvPicPr>
          <p:cNvPr id="27" name="ic-vcdex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56064" y="2103120"/>
            <a:ext cx="384048" cy="384048"/>
          </a:xfrm>
          <a:prstGeom prst="rect">
            <a:avLst/>
          </a:prstGeom>
        </p:spPr>
      </p:pic>
      <p:pic>
        <p:nvPicPr>
          <p:cNvPr id="28" name="ic-vcnetworkdex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13264" y="2103120"/>
            <a:ext cx="384048" cy="384048"/>
          </a:xfrm>
          <a:prstGeom prst="rect">
            <a:avLst/>
          </a:prstGeom>
        </p:spPr>
      </p:pic>
      <p:pic>
        <p:nvPicPr>
          <p:cNvPr id="29" name="ic-opencompanydex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70464" y="2103120"/>
            <a:ext cx="384048" cy="384048"/>
          </a:xfrm>
          <a:prstGeom prst="rect">
            <a:avLst/>
          </a:prstGeom>
        </p:spPr>
      </p:pic>
      <p:sp>
        <p:nvSpPr>
          <p:cNvPr id="30" name="Text 12"/>
          <p:cNvSpPr txBox="1"/>
          <p:nvPr/>
        </p:nvSpPr>
        <p:spPr>
          <a:xfrm>
            <a:off x="9198864" y="2606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E9D"/>
                </a:solidFill>
              </a:rPr>
              <a:t>StartupDex, VCDex, VCNetworkDex, OpenCompanyDex</a:t>
            </a:r>
            <a:endParaRPr lang="en-US" sz="1100" dirty="0"/>
          </a:p>
        </p:txBody>
      </p:sp>
      <p:sp>
        <p:nvSpPr>
          <p:cNvPr id="31" name="grp-living-work"/>
          <p:cNvSpPr/>
          <p:nvPr/>
        </p:nvSpPr>
        <p:spPr>
          <a:xfrm>
            <a:off x="548640" y="38404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32" name="Text 14"/>
          <p:cNvSpPr txBox="1"/>
          <p:nvPr/>
        </p:nvSpPr>
        <p:spPr>
          <a:xfrm>
            <a:off x="749808" y="40050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F23A"/>
                </a:solidFill>
              </a:rPr>
              <a:t>Biaya Hidup, Kerja &amp; Rumah Tangga</a:t>
            </a:r>
            <a:endParaRPr lang="en-US" sz="1400" dirty="0"/>
          </a:p>
        </p:txBody>
      </p:sp>
      <p:pic>
        <p:nvPicPr>
          <p:cNvPr id="33" name="ic-salarydex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9808" y="4617720"/>
            <a:ext cx="384048" cy="384048"/>
          </a:xfrm>
          <a:prstGeom prst="rect">
            <a:avLst/>
          </a:prstGeom>
        </p:spPr>
      </p:pic>
      <p:pic>
        <p:nvPicPr>
          <p:cNvPr id="34" name="ic-costlivingdex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07008" y="4617720"/>
            <a:ext cx="384048" cy="384048"/>
          </a:xfrm>
          <a:prstGeom prst="rect">
            <a:avLst/>
          </a:prstGeom>
        </p:spPr>
      </p:pic>
      <p:pic>
        <p:nvPicPr>
          <p:cNvPr id="35" name="ic-idhousingdex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64208" y="4617720"/>
            <a:ext cx="384048" cy="384048"/>
          </a:xfrm>
          <a:prstGeom prst="rect">
            <a:avLst/>
          </a:prstGeom>
        </p:spPr>
      </p:pic>
      <p:pic>
        <p:nvPicPr>
          <p:cNvPr id="36" name="ic-idfooddeliverydex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21408" y="4617720"/>
            <a:ext cx="384048" cy="384048"/>
          </a:xfrm>
          <a:prstGeom prst="rect">
            <a:avLst/>
          </a:prstGeom>
        </p:spPr>
      </p:pic>
      <p:sp>
        <p:nvSpPr>
          <p:cNvPr id="37" name="Text 15"/>
          <p:cNvSpPr txBox="1"/>
          <p:nvPr/>
        </p:nvSpPr>
        <p:spPr>
          <a:xfrm>
            <a:off x="749808" y="51206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E9D"/>
                </a:solidFill>
              </a:rPr>
              <a:t>SalaryDex, CostLivingDex, IDHousingDex, IDFoodDeliveryDex</a:t>
            </a:r>
            <a:endParaRPr lang="en-US" sz="1100" dirty="0"/>
          </a:p>
        </p:txBody>
      </p:sp>
      <p:sp>
        <p:nvSpPr>
          <p:cNvPr id="38" name="grp-social-development"/>
          <p:cNvSpPr/>
          <p:nvPr/>
        </p:nvSpPr>
        <p:spPr>
          <a:xfrm>
            <a:off x="3364992" y="38404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39" name="Text 17"/>
          <p:cNvSpPr txBox="1"/>
          <p:nvPr/>
        </p:nvSpPr>
        <p:spPr>
          <a:xfrm>
            <a:off x="3566160" y="40050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F23A"/>
                </a:solidFill>
              </a:rPr>
              <a:t>Sosial &amp; Pembangunan</a:t>
            </a:r>
            <a:endParaRPr lang="en-US" sz="1400" dirty="0"/>
          </a:p>
        </p:txBody>
      </p:sp>
      <p:pic>
        <p:nvPicPr>
          <p:cNvPr id="40" name="ic-povertydex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66160" y="4617720"/>
            <a:ext cx="384048" cy="384048"/>
          </a:xfrm>
          <a:prstGeom prst="rect">
            <a:avLst/>
          </a:prstGeom>
        </p:spPr>
      </p:pic>
      <p:pic>
        <p:nvPicPr>
          <p:cNvPr id="41" name="ic-populationdex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23360" y="4617720"/>
            <a:ext cx="384048" cy="384048"/>
          </a:xfrm>
          <a:prstGeom prst="rect">
            <a:avLst/>
          </a:prstGeom>
        </p:spPr>
      </p:pic>
      <p:pic>
        <p:nvPicPr>
          <p:cNvPr id="42" name="ic-homelessnessdex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80560" y="4617720"/>
            <a:ext cx="384048" cy="384048"/>
          </a:xfrm>
          <a:prstGeom prst="rect">
            <a:avLst/>
          </a:prstGeom>
        </p:spPr>
      </p:pic>
      <p:pic>
        <p:nvPicPr>
          <p:cNvPr id="43" name="ic-housingdex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37760" y="4617720"/>
            <a:ext cx="384048" cy="384048"/>
          </a:xfrm>
          <a:prstGeom prst="rect">
            <a:avLst/>
          </a:prstGeom>
        </p:spPr>
      </p:pic>
      <p:sp>
        <p:nvSpPr>
          <p:cNvPr id="44" name="Text 18"/>
          <p:cNvSpPr txBox="1"/>
          <p:nvPr/>
        </p:nvSpPr>
        <p:spPr>
          <a:xfrm>
            <a:off x="3566160" y="51206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E9D"/>
                </a:solidFill>
              </a:rPr>
              <a:t>PovertyDex, PopulationDex, HomelessnessDex, HousingDex</a:t>
            </a:r>
            <a:endParaRPr lang="en-US" sz="1100" dirty="0"/>
          </a:p>
        </p:txBody>
      </p:sp>
      <p:sp>
        <p:nvSpPr>
          <p:cNvPr id="45" name="grp-sentiment-personal"/>
          <p:cNvSpPr/>
          <p:nvPr/>
        </p:nvSpPr>
        <p:spPr>
          <a:xfrm>
            <a:off x="6181344" y="38404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46" name="Text 20"/>
          <p:cNvSpPr txBox="1"/>
          <p:nvPr/>
        </p:nvSpPr>
        <p:spPr>
          <a:xfrm>
            <a:off x="6382512" y="40050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F23A"/>
                </a:solidFill>
              </a:rPr>
              <a:t>Sentimen &amp; Keuangan Pribadi</a:t>
            </a:r>
            <a:endParaRPr lang="en-US" sz="1400" dirty="0"/>
          </a:p>
        </p:txBody>
      </p:sp>
      <p:pic>
        <p:nvPicPr>
          <p:cNvPr id="47" name="ic-fintechdex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82512" y="4617720"/>
            <a:ext cx="384048" cy="384048"/>
          </a:xfrm>
          <a:prstGeom prst="rect">
            <a:avLst/>
          </a:prstGeom>
        </p:spPr>
      </p:pic>
      <p:pic>
        <p:nvPicPr>
          <p:cNvPr id="48" name="ic-personalfinandex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39712" y="4617720"/>
            <a:ext cx="384048" cy="384048"/>
          </a:xfrm>
          <a:prstGeom prst="rect">
            <a:avLst/>
          </a:prstGeom>
        </p:spPr>
      </p:pic>
      <p:sp>
        <p:nvSpPr>
          <p:cNvPr id="49" name="Text 21"/>
          <p:cNvSpPr txBox="1"/>
          <p:nvPr/>
        </p:nvSpPr>
        <p:spPr>
          <a:xfrm>
            <a:off x="6382512" y="51206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E9D"/>
                </a:solidFill>
              </a:rPr>
              <a:t>FintechDex, PersonalFinanDex</a:t>
            </a:r>
            <a:endParaRPr lang="en-US" sz="1100" dirty="0"/>
          </a:p>
        </p:txBody>
      </p:sp>
      <p:sp>
        <p:nvSpPr>
          <p:cNvPr id="50" name="grp-law"/>
          <p:cNvSpPr/>
          <p:nvPr/>
        </p:nvSpPr>
        <p:spPr>
          <a:xfrm>
            <a:off x="8997696" y="38404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51" name="Text 23"/>
          <p:cNvSpPr txBox="1"/>
          <p:nvPr/>
        </p:nvSpPr>
        <p:spPr>
          <a:xfrm>
            <a:off x="9198864" y="40050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F23A"/>
                </a:solidFill>
              </a:rPr>
              <a:t>Hukum &amp; Pelindungan Konsumen</a:t>
            </a:r>
            <a:endParaRPr lang="en-US" sz="1400" dirty="0"/>
          </a:p>
        </p:txBody>
      </p:sp>
      <p:pic>
        <p:nvPicPr>
          <p:cNvPr id="52" name="ic-mylaiwyer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98864" y="4617720"/>
            <a:ext cx="384048" cy="384048"/>
          </a:xfrm>
          <a:prstGeom prst="rect">
            <a:avLst/>
          </a:prstGeom>
        </p:spPr>
      </p:pic>
      <p:pic>
        <p:nvPicPr>
          <p:cNvPr id="53" name="ic-finlaiwyer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656064" y="4617720"/>
            <a:ext cx="384048" cy="384048"/>
          </a:xfrm>
          <a:prstGeom prst="rect">
            <a:avLst/>
          </a:prstGeom>
        </p:spPr>
      </p:pic>
      <p:pic>
        <p:nvPicPr>
          <p:cNvPr id="54" name="ic-antiscamdex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113264" y="4617720"/>
            <a:ext cx="384048" cy="384048"/>
          </a:xfrm>
          <a:prstGeom prst="rect">
            <a:avLst/>
          </a:prstGeom>
        </p:spPr>
      </p:pic>
      <p:sp>
        <p:nvSpPr>
          <p:cNvPr id="55" name="Text 24"/>
          <p:cNvSpPr txBox="1"/>
          <p:nvPr/>
        </p:nvSpPr>
        <p:spPr>
          <a:xfrm>
            <a:off x="9198864" y="51206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E9D"/>
                </a:solidFill>
              </a:rPr>
              <a:t>My LAIwyer, FinLAIwyer, AntiScamDex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jawaban bisa diperiksa</a:t>
            </a:r>
            <a:endParaRPr lang="en-US" sz="3400" dirty="0"/>
          </a:p>
        </p:txBody>
      </p:sp>
      <p:sp>
        <p:nvSpPr>
          <p:cNvPr id="3" name="step-0"/>
          <p:cNvSpPr/>
          <p:nvPr/>
        </p:nvSpPr>
        <p:spPr>
          <a:xfrm>
            <a:off x="548640" y="137160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F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Jawaban inti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2–4 kalimat, angka utama + tanggal data</a:t>
            </a:r>
            <a:endParaRPr lang="en-US" sz="1400" dirty="0"/>
          </a:p>
        </p:txBody>
      </p:sp>
      <p:sp>
        <p:nvSpPr>
          <p:cNvPr id="7" name="step-1"/>
          <p:cNvSpPr/>
          <p:nvPr/>
        </p:nvSpPr>
        <p:spPr>
          <a:xfrm>
            <a:off x="4297680" y="137160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9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Grafik visual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21945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dipilih tool: garis, bar, heatmap, kutipan pasal</a:t>
            </a:r>
            <a:endParaRPr lang="en-US" sz="1400" dirty="0"/>
          </a:p>
        </p:txBody>
      </p:sp>
      <p:sp>
        <p:nvSpPr>
          <p:cNvPr id="11" name="step-2"/>
          <p:cNvSpPr/>
          <p:nvPr/>
        </p:nvSpPr>
        <p:spPr>
          <a:xfrm>
            <a:off x="8046720" y="137160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F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Analisis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21945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3–6 butir yang merujuk angka dari tool</a:t>
            </a:r>
            <a:endParaRPr lang="en-US" sz="1400" dirty="0"/>
          </a:p>
        </p:txBody>
      </p:sp>
      <p:sp>
        <p:nvSpPr>
          <p:cNvPr id="15" name="step-3"/>
          <p:cNvSpPr/>
          <p:nvPr/>
        </p:nvSpPr>
        <p:spPr>
          <a:xfrm>
            <a:off x="548640" y="347472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9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730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Kenapa jawabannya begini?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297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data, rumus, aturan pembersihan, tool dipanggil</a:t>
            </a:r>
            <a:endParaRPr lang="en-US" sz="1400" dirty="0"/>
          </a:p>
        </p:txBody>
      </p:sp>
      <p:sp>
        <p:nvSpPr>
          <p:cNvPr id="19" name="step-4"/>
          <p:cNvSpPr/>
          <p:nvPr/>
        </p:nvSpPr>
        <p:spPr>
          <a:xfrm>
            <a:off x="4297680" y="347472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2628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730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Keterbatasan &amp; sumber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297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flag kualitas, sampel, as-of, dataset</a:t>
            </a:r>
            <a:endParaRPr lang="en-US" sz="1400" dirty="0"/>
          </a:p>
        </p:txBody>
      </p:sp>
      <p:sp>
        <p:nvSpPr>
          <p:cNvPr id="23" name="step-5"/>
          <p:cNvSpPr/>
          <p:nvPr/>
        </p:nvSpPr>
        <p:spPr>
          <a:xfrm>
            <a:off x="8046720" y="347472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7532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93AE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3730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Disclaimer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4297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bukan nasihat investasi atau hukum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Warna = asal-usul: </a:t>
            </a:r>
            <a:pPr indent="0" marL="0">
              <a:buNone/>
            </a:pPr>
            <a:r>
              <a:rPr lang="en-US" sz="1500" dirty="0">
                <a:solidFill>
                  <a:srgbClr val="19F23A"/>
                </a:solidFill>
              </a:rPr>
              <a:t>hijau phosphor = data, </a:t>
            </a:r>
            <a:pPr indent="0" marL="0">
              <a:buNone/>
            </a:pPr>
            <a:r>
              <a:rPr lang="en-US" sz="1500" dirty="0">
                <a:solidFill>
                  <a:srgbClr val="3FD9FF"/>
                </a:solidFill>
              </a:rPr>
              <a:t>sian = narasi AI, </a:t>
            </a:r>
            <a:pPr indent="0" marL="0">
              <a:buNone/>
            </a:pPr>
            <a:r>
              <a:rPr lang="en-US" sz="1500" dirty="0">
                <a:solidFill>
                  <a:srgbClr val="F3EEDF"/>
                </a:solidFill>
              </a:rPr>
              <a:t>krem = teks resmi, </a:t>
            </a:r>
            <a:pPr indent="0" marL="0">
              <a:buNone/>
            </a:pPr>
            <a:r>
              <a:rPr lang="en-US" sz="1500" dirty="0">
                <a:solidFill>
                  <a:srgbClr val="FFB23E"/>
                </a:solidFill>
              </a:rPr>
              <a:t>amber = keterbatasan.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satu codebase</a:t>
            </a:r>
            <a:endParaRPr lang="en-US" sz="3400" dirty="0"/>
          </a:p>
        </p:txBody>
      </p:sp>
      <p:sp>
        <p:nvSpPr>
          <p:cNvPr id="3" name="client-0"/>
          <p:cNvSpPr/>
          <p:nvPr/>
        </p:nvSpPr>
        <p:spPr>
          <a:xfrm>
            <a:off x="548640" y="1325880"/>
            <a:ext cx="2560320" cy="1005840"/>
          </a:xfrm>
          <a:prstGeom prst="roundRect">
            <a:avLst>
              <a:gd name="adj" fmla="val 12727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Web / PWA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React · Vite · Workbox</a:t>
            </a:r>
            <a:endParaRPr lang="en-US" sz="1200" dirty="0"/>
          </a:p>
        </p:txBody>
      </p:sp>
      <p:sp>
        <p:nvSpPr>
          <p:cNvPr id="6" name="client-1"/>
          <p:cNvSpPr/>
          <p:nvPr/>
        </p:nvSpPr>
        <p:spPr>
          <a:xfrm>
            <a:off x="548640" y="2514600"/>
            <a:ext cx="2560320" cy="1005840"/>
          </a:xfrm>
          <a:prstGeom prst="roundRect">
            <a:avLst>
              <a:gd name="adj" fmla="val 12727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iOS · Android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Capacitor</a:t>
            </a:r>
            <a:endParaRPr lang="en-US" sz="1200" dirty="0"/>
          </a:p>
        </p:txBody>
      </p:sp>
      <p:sp>
        <p:nvSpPr>
          <p:cNvPr id="9" name="client-2"/>
          <p:cNvSpPr/>
          <p:nvPr/>
        </p:nvSpPr>
        <p:spPr>
          <a:xfrm>
            <a:off x="548640" y="3703320"/>
            <a:ext cx="2560320" cy="1005840"/>
          </a:xfrm>
          <a:prstGeom prst="roundRect">
            <a:avLst>
              <a:gd name="adj" fmla="val 12727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macOS · Windows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206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Tauri 2</a:t>
            </a:r>
            <a:endParaRPr lang="en-US" sz="1200" dirty="0"/>
          </a:p>
        </p:txBody>
      </p:sp>
      <p:sp>
        <p:nvSpPr>
          <p:cNvPr id="12" name="client-3"/>
          <p:cNvSpPr/>
          <p:nvPr/>
        </p:nvSpPr>
        <p:spPr>
          <a:xfrm>
            <a:off x="548640" y="4892040"/>
            <a:ext cx="2560320" cy="1005840"/>
          </a:xfrm>
          <a:prstGeom prst="roundRect">
            <a:avLst>
              <a:gd name="adj" fmla="val 12727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Lovable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394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preview &amp; editor</a:t>
            </a:r>
            <a:endParaRPr lang="en-US" sz="1200" dirty="0"/>
          </a:p>
        </p:txBody>
      </p:sp>
      <p:sp>
        <p:nvSpPr>
          <p:cNvPr id="15" name="hosting"/>
          <p:cNvSpPr/>
          <p:nvPr/>
        </p:nvSpPr>
        <p:spPr>
          <a:xfrm>
            <a:off x="3794760" y="1325880"/>
            <a:ext cx="3657600" cy="2103120"/>
          </a:xfrm>
          <a:prstGeom prst="roundRect">
            <a:avLst>
              <a:gd name="adj" fmla="val 6087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7764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F23A"/>
                </a:solidFill>
              </a:rPr>
              <a:t>Vercel + Netlify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182880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SPA statis + CDN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/data/core · /data/heavy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/whitepaper · /downloads</a:t>
            </a:r>
            <a:endParaRPr lang="en-US" sz="1200" dirty="0"/>
          </a:p>
        </p:txBody>
      </p:sp>
      <p:sp>
        <p:nvSpPr>
          <p:cNvPr id="18" name="api"/>
          <p:cNvSpPr/>
          <p:nvPr/>
        </p:nvSpPr>
        <p:spPr>
          <a:xfrm>
            <a:off x="3794760" y="3611880"/>
            <a:ext cx="3657600" cy="2194560"/>
          </a:xfrm>
          <a:prstGeom prst="roundRect">
            <a:avLst>
              <a:gd name="adj" fmla="val 5833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7764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F23A"/>
                </a:solidFill>
              </a:rPr>
              <a:t>API handle(Request, env)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77640" y="411480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/api/chat (SSE)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Orkestrator + tool deterministik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zod · CORS · rate limit</a:t>
            </a:r>
            <a:endParaRPr lang="en-US" sz="1200" dirty="0"/>
          </a:p>
        </p:txBody>
      </p:sp>
      <p:sp>
        <p:nvSpPr>
          <p:cNvPr id="21" name="claude"/>
          <p:cNvSpPr/>
          <p:nvPr/>
        </p:nvSpPr>
        <p:spPr>
          <a:xfrm>
            <a:off x="8138160" y="1325880"/>
            <a:ext cx="3474720" cy="2103120"/>
          </a:xfrm>
          <a:prstGeom prst="roundRect">
            <a:avLst>
              <a:gd name="adj" fmla="val 6087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FD9FF"/>
                </a:solidFill>
              </a:rPr>
              <a:t>Claude API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182880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claude-sonnet-5-5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claude-haiku-5-5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strict tool use · caching</a:t>
            </a:r>
            <a:endParaRPr lang="en-US" sz="1200" dirty="0"/>
          </a:p>
        </p:txBody>
      </p:sp>
      <p:sp>
        <p:nvSpPr>
          <p:cNvPr id="24" name="etl"/>
          <p:cNvSpPr/>
          <p:nvPr/>
        </p:nvSpPr>
        <p:spPr>
          <a:xfrm>
            <a:off x="8138160" y="3611880"/>
            <a:ext cx="3474720" cy="2194560"/>
          </a:xfrm>
          <a:prstGeom prst="roundRect">
            <a:avLst>
              <a:gd name="adj" fmla="val 5833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B23E"/>
                </a:solidFill>
              </a:rPr>
              <a:t>Build data (CI)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11480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ETL TypeScript streaming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Golden + paritas Python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Regulasi resmi + SHA-256</a:t>
            </a:r>
            <a:endParaRPr lang="en-US" sz="1200" dirty="0"/>
          </a:p>
        </p:txBody>
      </p:sp>
      <p:sp>
        <p:nvSpPr>
          <p:cNvPr id="27" name="arr-c0"/>
          <p:cNvSpPr/>
          <p:nvPr/>
        </p:nvSpPr>
        <p:spPr>
          <a:xfrm>
            <a:off x="3108960" y="1828800"/>
            <a:ext cx="685800" cy="0"/>
          </a:xfrm>
          <a:prstGeom prst="line">
            <a:avLst/>
          </a:prstGeom>
          <a:noFill/>
          <a:ln w="19050">
            <a:solidFill>
              <a:srgbClr val="19F23A"/>
            </a:solidFill>
            <a:prstDash val="solid"/>
            <a:tailEnd type="triangle"/>
          </a:ln>
        </p:spPr>
      </p:sp>
      <p:sp>
        <p:nvSpPr>
          <p:cNvPr id="28" name="arr-c1"/>
          <p:cNvSpPr/>
          <p:nvPr/>
        </p:nvSpPr>
        <p:spPr>
          <a:xfrm>
            <a:off x="3108960" y="3017520"/>
            <a:ext cx="685800" cy="0"/>
          </a:xfrm>
          <a:prstGeom prst="line">
            <a:avLst/>
          </a:prstGeom>
          <a:noFill/>
          <a:ln w="19050">
            <a:solidFill>
              <a:srgbClr val="19F23A"/>
            </a:solidFill>
            <a:prstDash val="solid"/>
            <a:tailEnd type="triangle"/>
          </a:ln>
        </p:spPr>
      </p:sp>
      <p:sp>
        <p:nvSpPr>
          <p:cNvPr id="29" name="arr-c2"/>
          <p:cNvSpPr/>
          <p:nvPr/>
        </p:nvSpPr>
        <p:spPr>
          <a:xfrm>
            <a:off x="3108960" y="4206240"/>
            <a:ext cx="685800" cy="0"/>
          </a:xfrm>
          <a:prstGeom prst="line">
            <a:avLst/>
          </a:prstGeom>
          <a:noFill/>
          <a:ln w="19050">
            <a:solidFill>
              <a:srgbClr val="19F23A"/>
            </a:solidFill>
            <a:prstDash val="solid"/>
            <a:tailEnd type="triangle"/>
          </a:ln>
        </p:spPr>
      </p:sp>
      <p:sp>
        <p:nvSpPr>
          <p:cNvPr id="30" name="arr-c3"/>
          <p:cNvSpPr/>
          <p:nvPr/>
        </p:nvSpPr>
        <p:spPr>
          <a:xfrm>
            <a:off x="3108960" y="5394960"/>
            <a:ext cx="685800" cy="0"/>
          </a:xfrm>
          <a:prstGeom prst="line">
            <a:avLst/>
          </a:prstGeom>
          <a:noFill/>
          <a:ln w="19050">
            <a:solidFill>
              <a:srgbClr val="19F23A"/>
            </a:solidFill>
            <a:prstDash val="solid"/>
            <a:tailEnd type="triangle"/>
          </a:ln>
        </p:spPr>
      </p:sp>
      <p:sp>
        <p:nvSpPr>
          <p:cNvPr id="31" name="arr-ai"/>
          <p:cNvSpPr/>
          <p:nvPr/>
        </p:nvSpPr>
        <p:spPr>
          <a:xfrm>
            <a:off x="7452360" y="4663440"/>
            <a:ext cx="685800" cy="0"/>
          </a:xfrm>
          <a:prstGeom prst="line">
            <a:avLst/>
          </a:prstGeom>
          <a:noFill/>
          <a:ln w="19050">
            <a:solidFill>
              <a:srgbClr val="3FD9FF"/>
            </a:solidFill>
            <a:prstDash val="solid"/>
            <a:headEnd type="triangle"/>
            <a:tailEnd type="triangle"/>
          </a:ln>
        </p:spPr>
      </p:sp>
      <p:sp>
        <p:nvSpPr>
          <p:cNvPr id="32" name="arr-etl"/>
          <p:cNvSpPr/>
          <p:nvPr/>
        </p:nvSpPr>
        <p:spPr>
          <a:xfrm>
            <a:off x="7452360" y="2377440"/>
            <a:ext cx="685800" cy="0"/>
          </a:xfrm>
          <a:prstGeom prst="line">
            <a:avLst/>
          </a:prstGeom>
          <a:noFill/>
          <a:ln w="19050">
            <a:solidFill>
              <a:srgbClr val="FFB23E"/>
            </a:solidFill>
            <a:prstDash val="solid"/>
            <a:head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frontend</a:t>
            </a:r>
            <a:endParaRPr lang="en-US" sz="3400" dirty="0"/>
          </a:p>
        </p:txBody>
      </p:sp>
      <p:graphicFrame>
        <p:nvGraphicFramePr>
          <p:cNvPr id="8" name="stack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Lapisan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Teknologi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Peran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UI &amp; bahasa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React 18+, TypeScript strict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Komponen &amp; tipe ketat di seluruh kode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Build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Vite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Code splitting, lazy load halaman Dex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Styling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Tailwind CSS + shadcn/ui (Radix)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Token desain Index Constellation, primitif aksesibel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Routing &amp; data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React Router, TanStack Query, Zustand, zod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Deep link, cache, state UI, validasi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Grafik &amp; tabel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Apache ECharts + LTTB, TanStack Table/Virtual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Grafik interaktif, tabel besar tervirtualisasi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Cari &amp; teks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MiniSearch, react-markdown + rehype-sanitize, pdfjs-dist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BM25 entitas &amp; pasal, chat aman, pratinjau PDF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Kinerja &amp; offline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Web Worker + Comlink, vite-plugin-pwa (Workbox), IndexedDB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UI tidak membeku, PWA offline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i18n &amp; font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i18next; Unbounded, IBM Plex Sans/Serif (OFL)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Bahasa Indonesia &amp; English, tipografi khas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backend, API &amp; AI</a:t>
            </a:r>
            <a:endParaRPr lang="en-US" sz="3400" dirty="0"/>
          </a:p>
        </p:txBody>
      </p:sp>
      <p:graphicFrame>
        <p:nvGraphicFramePr>
          <p:cNvPr id="9" name="stack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Lapisan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Teknologi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Peran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Handler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handle(Request, env) di Web Fetch API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Runtime-agnostik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Adapter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Vercel Functions, Netlify Functions (/api/*)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Satu kode server untuk dua platform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Streaming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Server-Sent Events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meta, status, text, artifact, method, citation, done, error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Data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DataStore: fetch + LRU + ETag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JSON &amp; matriks Float32 dari CDN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Keamanan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zod, CORS allowlist, CSP, HSTS, rate limit (Upstash Redis)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Validasi, pembatasan, tanpa secret di klien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SDK AI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@anthropic-ai/sdk (Claude API)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Streaming, strict tool use, prompt caching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claude-sonnet-5-5 · claude-haiku-5-5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Jawaban · judul &amp; ringkasan riwayat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Batas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8 giliran, 12 tool, 50 detik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Sesuai batas fungsi 60 detik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data, ETL &amp; verifikasi</a:t>
            </a:r>
            <a:endParaRPr lang="en-US" sz="3400" dirty="0"/>
          </a:p>
        </p:txBody>
      </p:sp>
      <p:graphicFrame>
        <p:nvGraphicFramePr>
          <p:cNvPr id="10" name="stack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Lapisan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Teknologi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Peran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ETL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TypeScript streaming (CSV, ZIP, Parquet JS)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public/data/core &amp; heavy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JSON kolumnar + kamus, matriks Float32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Ringkas &amp; cepat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Input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GitHub Release data-inputs-v1 (42 file)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Diverifikasi SHA-256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Regulasi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Katalog 41 dokumen → lock file → Release data-regulations-v1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Hanya domain resmi; verifikasi judul &amp; jangkar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Dataset kit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AntiScam KB, katalog regulasi, alur konsultasi, panduan fitur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Validator + golden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Referensi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Python 3.12, pandas, numpy, pyarrow, poppler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Golden fixtures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Paritas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GitHub Actions parity.yml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Python = golden = TypeScript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Evaluasi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161 item chatbot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Mock 100%, live ≥ 95%, keamanan 100%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mobile, desktop, DevOps &amp; mutu</a:t>
            </a:r>
            <a:endParaRPr lang="en-US" sz="3400" dirty="0"/>
          </a:p>
        </p:txBody>
      </p:sp>
      <p:graphicFrame>
        <p:nvGraphicFramePr>
          <p:cNvPr id="11" name="stack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Lapisan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Teknologi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Peran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Mobile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Capacitor (iOS &amp; Android) + plugin resmi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Haptik, share, offline, in-app browser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Desktop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Tauri 2 (macOS .dmg universal, Windows .exe/.msi)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Codesign, notarisasi, updater bertanda tangan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Repo &amp; rilis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GitHub: main → CI → release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Fast-forward otomatis saat CI hijau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Hosting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Vercel, Netlify, Lovable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Produksi, mirror, preview &amp; editor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CI/CD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ci, parity, promote, android, ios, desktop, regulations, ui-review, eval-live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GitHub Actions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Uji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Vitest, Playwright (3 browser), axe, Lighthouse CI, size-limit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Coverage ≥ 90%, a11y, performa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UI/UX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Regresi visual, audit token, uji tugas pengguna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Desain unik &amp; konsisten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Keamanan rantai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gitleaks, npm audit, license-checker, SBOM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Tanpa secret, tanpa GPL/AGPL/SSPL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Pasang di semua perangkat</a:t>
            </a:r>
            <a:endParaRPr lang="en-US" sz="3400" dirty="0"/>
          </a:p>
        </p:txBody>
      </p:sp>
      <p:sp>
        <p:nvSpPr>
          <p:cNvPr id="3" name="inst-0"/>
          <p:cNvSpPr/>
          <p:nvPr/>
        </p:nvSpPr>
        <p:spPr>
          <a:xfrm>
            <a:off x="548640" y="137160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4" name="inst-ic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iPhone &amp; iPad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9260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Panduan "Tambahkan ke Layar Utama" di Safari; App Store/TestFlight saat tersedia</a:t>
            </a:r>
            <a:endParaRPr lang="en-US" sz="1400" dirty="0"/>
          </a:p>
        </p:txBody>
      </p:sp>
      <p:sp>
        <p:nvSpPr>
          <p:cNvPr id="7" name="inst-1"/>
          <p:cNvSpPr/>
          <p:nvPr/>
        </p:nvSpPr>
        <p:spPr>
          <a:xfrm>
            <a:off x="3364992" y="137160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8" name="inst-ic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6459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39312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Android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639312" y="29260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Tombol pasang PWA otomatis; Google Play saat tersedia; opsi APK bertanda tangan</a:t>
            </a:r>
            <a:endParaRPr lang="en-US" sz="1400" dirty="0"/>
          </a:p>
        </p:txBody>
      </p:sp>
      <p:sp>
        <p:nvSpPr>
          <p:cNvPr id="11" name="inst-2"/>
          <p:cNvSpPr/>
          <p:nvPr/>
        </p:nvSpPr>
        <p:spPr>
          <a:xfrm>
            <a:off x="6181344" y="137160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12" name="inst-ic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64592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455664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macOS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55664" y="29260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Unduh .dmg universal (Apple silicon &amp; Intel), bertanda tangan &amp; ter-notarisasi</a:t>
            </a:r>
            <a:endParaRPr lang="en-US" sz="1400" dirty="0"/>
          </a:p>
        </p:txBody>
      </p:sp>
      <p:sp>
        <p:nvSpPr>
          <p:cNvPr id="15" name="inst-3"/>
          <p:cNvSpPr/>
          <p:nvPr/>
        </p:nvSpPr>
        <p:spPr>
          <a:xfrm>
            <a:off x="8997696" y="137160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16" name="inst-ic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164592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72016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Windows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9272016" y="29260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Unduh installer .exe/.msi (x64 &amp; ARM64) bertanda tangan; atau PWA di Edge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4892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F5EC"/>
                </a:solidFill>
              </a:rPr>
              <a:t>Beranda dan halaman /install mengenali perangkat dan menampilkan satu tombol yang tepat, lengkap dengan versi, ukuran, dan SHA-256; desktop menampilkan kode QR untuk ponsel. My LAIwyer dan FinLAIwyer juga bisa dipasang sebagai aplikasi terpisah.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desain Index Constellation</a:t>
            </a:r>
            <a:endParaRPr lang="en-US" sz="3400" dirty="0"/>
          </a:p>
        </p:txBody>
      </p:sp>
      <p:sp>
        <p:nvSpPr>
          <p:cNvPr id="3" name="motif-line"/>
          <p:cNvSpPr/>
          <p:nvPr/>
        </p:nvSpPr>
        <p:spPr>
          <a:xfrm>
            <a:off x="3154680" y="3474720"/>
            <a:ext cx="456730" cy="1701122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4" name="motif-line"/>
          <p:cNvSpPr/>
          <p:nvPr/>
        </p:nvSpPr>
        <p:spPr>
          <a:xfrm flipV="1">
            <a:off x="1683440" y="3474720"/>
            <a:ext cx="1471240" cy="1091462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5" name="motif-line"/>
          <p:cNvSpPr/>
          <p:nvPr/>
        </p:nvSpPr>
        <p:spPr>
          <a:xfrm flipV="1">
            <a:off x="3154680" y="2796778"/>
            <a:ext cx="1153975" cy="677942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6" name="motif-line"/>
          <p:cNvSpPr/>
          <p:nvPr/>
        </p:nvSpPr>
        <p:spPr>
          <a:xfrm>
            <a:off x="3154680" y="3474720"/>
            <a:ext cx="1841265" cy="79859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7" name="motif-line"/>
          <p:cNvSpPr/>
          <p:nvPr/>
        </p:nvSpPr>
        <p:spPr>
          <a:xfrm flipV="1">
            <a:off x="2672864" y="3474720"/>
            <a:ext cx="481816" cy="352990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8" name="motif-line"/>
          <p:cNvSpPr/>
          <p:nvPr/>
        </p:nvSpPr>
        <p:spPr>
          <a:xfrm flipV="1">
            <a:off x="1177635" y="3474720"/>
            <a:ext cx="1977045" cy="1180030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9" name="motif-line"/>
          <p:cNvSpPr/>
          <p:nvPr/>
        </p:nvSpPr>
        <p:spPr>
          <a:xfrm flipV="1">
            <a:off x="2655147" y="3474720"/>
            <a:ext cx="499533" cy="172249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0" name="motif-line"/>
          <p:cNvSpPr/>
          <p:nvPr/>
        </p:nvSpPr>
        <p:spPr>
          <a:xfrm flipV="1">
            <a:off x="3154680" y="2933451"/>
            <a:ext cx="846275" cy="541269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1" name="motif-line"/>
          <p:cNvSpPr/>
          <p:nvPr/>
        </p:nvSpPr>
        <p:spPr>
          <a:xfrm>
            <a:off x="925281" y="3085416"/>
            <a:ext cx="2229399" cy="389304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2" name="motif-line"/>
          <p:cNvSpPr/>
          <p:nvPr/>
        </p:nvSpPr>
        <p:spPr>
          <a:xfrm>
            <a:off x="3154680" y="3474720"/>
            <a:ext cx="1054335" cy="576212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3" name="motif-line"/>
          <p:cNvSpPr/>
          <p:nvPr/>
        </p:nvSpPr>
        <p:spPr>
          <a:xfrm>
            <a:off x="3154680" y="3474720"/>
            <a:ext cx="989032" cy="1212846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4" name="motif-line"/>
          <p:cNvSpPr/>
          <p:nvPr/>
        </p:nvSpPr>
        <p:spPr>
          <a:xfrm flipV="1">
            <a:off x="2027594" y="3474720"/>
            <a:ext cx="1127086" cy="1624455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5" name="motif-line"/>
          <p:cNvSpPr/>
          <p:nvPr/>
        </p:nvSpPr>
        <p:spPr>
          <a:xfrm flipV="1">
            <a:off x="3154680" y="3364389"/>
            <a:ext cx="406870" cy="110331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6" name="motif-node"/>
          <p:cNvSpPr/>
          <p:nvPr/>
        </p:nvSpPr>
        <p:spPr>
          <a:xfrm>
            <a:off x="3570262" y="5134694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7" name="motif-node"/>
          <p:cNvSpPr/>
          <p:nvPr/>
        </p:nvSpPr>
        <p:spPr>
          <a:xfrm>
            <a:off x="1959517" y="1768223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8" name="motif-node"/>
          <p:cNvSpPr/>
          <p:nvPr/>
        </p:nvSpPr>
        <p:spPr>
          <a:xfrm>
            <a:off x="1642292" y="4525034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9" name="motif-node"/>
          <p:cNvSpPr/>
          <p:nvPr/>
        </p:nvSpPr>
        <p:spPr>
          <a:xfrm>
            <a:off x="1489696" y="2707776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0" name="motif-node"/>
          <p:cNvSpPr/>
          <p:nvPr/>
        </p:nvSpPr>
        <p:spPr>
          <a:xfrm>
            <a:off x="4267507" y="2755630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1" name="motif-node"/>
          <p:cNvSpPr/>
          <p:nvPr/>
        </p:nvSpPr>
        <p:spPr>
          <a:xfrm>
            <a:off x="3428171" y="4876312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2" name="motif-node"/>
          <p:cNvSpPr/>
          <p:nvPr/>
        </p:nvSpPr>
        <p:spPr>
          <a:xfrm>
            <a:off x="4954797" y="3513431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3" name="motif-node"/>
          <p:cNvSpPr/>
          <p:nvPr/>
        </p:nvSpPr>
        <p:spPr>
          <a:xfrm>
            <a:off x="1961164" y="3236729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4" name="motif-node"/>
          <p:cNvSpPr/>
          <p:nvPr/>
        </p:nvSpPr>
        <p:spPr>
          <a:xfrm>
            <a:off x="2631716" y="3786562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5" name="motif-node"/>
          <p:cNvSpPr/>
          <p:nvPr/>
        </p:nvSpPr>
        <p:spPr>
          <a:xfrm>
            <a:off x="1773564" y="4747499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6" name="motif-node"/>
          <p:cNvSpPr/>
          <p:nvPr/>
        </p:nvSpPr>
        <p:spPr>
          <a:xfrm>
            <a:off x="1136487" y="4613602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7" name="motif-node"/>
          <p:cNvSpPr/>
          <p:nvPr/>
        </p:nvSpPr>
        <p:spPr>
          <a:xfrm>
            <a:off x="776928" y="2657866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8" name="motif-node"/>
          <p:cNvSpPr/>
          <p:nvPr/>
        </p:nvSpPr>
        <p:spPr>
          <a:xfrm>
            <a:off x="2613999" y="3605821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9" name="motif-node"/>
          <p:cNvSpPr/>
          <p:nvPr/>
        </p:nvSpPr>
        <p:spPr>
          <a:xfrm>
            <a:off x="3317477" y="4082088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0" name="motif-node"/>
          <p:cNvSpPr/>
          <p:nvPr/>
        </p:nvSpPr>
        <p:spPr>
          <a:xfrm>
            <a:off x="3959807" y="2892303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1" name="motif-node"/>
          <p:cNvSpPr/>
          <p:nvPr/>
        </p:nvSpPr>
        <p:spPr>
          <a:xfrm>
            <a:off x="4428100" y="1490476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2" name="motif-node"/>
          <p:cNvSpPr/>
          <p:nvPr/>
        </p:nvSpPr>
        <p:spPr>
          <a:xfrm>
            <a:off x="884133" y="3044268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3" name="motif-node"/>
          <p:cNvSpPr/>
          <p:nvPr/>
        </p:nvSpPr>
        <p:spPr>
          <a:xfrm>
            <a:off x="4560352" y="1685714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4" name="motif-node"/>
          <p:cNvSpPr/>
          <p:nvPr/>
        </p:nvSpPr>
        <p:spPr>
          <a:xfrm>
            <a:off x="4167867" y="4009784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5" name="motif-node"/>
          <p:cNvSpPr/>
          <p:nvPr/>
        </p:nvSpPr>
        <p:spPr>
          <a:xfrm>
            <a:off x="4504456" y="2902220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6" name="motif-node"/>
          <p:cNvSpPr/>
          <p:nvPr/>
        </p:nvSpPr>
        <p:spPr>
          <a:xfrm>
            <a:off x="4102564" y="4646418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7" name="motif-node"/>
          <p:cNvSpPr/>
          <p:nvPr/>
        </p:nvSpPr>
        <p:spPr>
          <a:xfrm>
            <a:off x="3357301" y="4153346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8" name="motif-node"/>
          <p:cNvSpPr/>
          <p:nvPr/>
        </p:nvSpPr>
        <p:spPr>
          <a:xfrm>
            <a:off x="1986446" y="5058027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9" name="motif-node"/>
          <p:cNvSpPr/>
          <p:nvPr/>
        </p:nvSpPr>
        <p:spPr>
          <a:xfrm>
            <a:off x="4110443" y="4764015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40" name="motif-node"/>
          <p:cNvSpPr/>
          <p:nvPr/>
        </p:nvSpPr>
        <p:spPr>
          <a:xfrm>
            <a:off x="3520402" y="3323241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41" name="motif-node"/>
          <p:cNvSpPr/>
          <p:nvPr/>
        </p:nvSpPr>
        <p:spPr>
          <a:xfrm>
            <a:off x="3998103" y="2501286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42" name="motif-core"/>
          <p:cNvSpPr/>
          <p:nvPr/>
        </p:nvSpPr>
        <p:spPr>
          <a:xfrm>
            <a:off x="3035808" y="3355848"/>
            <a:ext cx="237744" cy="237744"/>
          </a:xfrm>
          <a:prstGeom prst="ellipse">
            <a:avLst/>
          </a:prstGeom>
          <a:solidFill>
            <a:srgbClr val="07130D"/>
          </a:solidFill>
          <a:ln w="25400">
            <a:solidFill>
              <a:srgbClr val="19F2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56235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E9D"/>
                </a:solidFill>
              </a:rPr>
              <a:t>Konstelasi Indeks di Beranda: satu inti (Finandex AI) dan 29 node Dex; terang node = kesegaran data, cincin = status.</a:t>
            </a:r>
            <a:endParaRPr lang="en-US" sz="1300" dirty="0"/>
          </a:p>
        </p:txBody>
      </p:sp>
      <p:sp>
        <p:nvSpPr>
          <p:cNvPr id="44" name="sw-phosphor"/>
          <p:cNvSpPr/>
          <p:nvPr/>
        </p:nvSpPr>
        <p:spPr>
          <a:xfrm>
            <a:off x="5943600" y="1417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629400" y="14904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F5EC"/>
                </a:solidFill>
              </a:rPr>
              <a:t>phosphor  </a:t>
            </a:r>
            <a:pPr indent="0" marL="0">
              <a:buNone/>
            </a:pPr>
            <a:r>
              <a:rPr lang="en-US" sz="1600" dirty="0">
                <a:solidFill>
                  <a:srgbClr val="93AE9D"/>
                </a:solidFill>
              </a:rPr>
              <a:t>angka dari dataset</a:t>
            </a:r>
            <a:endParaRPr lang="en-US" sz="1600" dirty="0"/>
          </a:p>
        </p:txBody>
      </p:sp>
      <p:sp>
        <p:nvSpPr>
          <p:cNvPr id="46" name="sw-ion"/>
          <p:cNvSpPr/>
          <p:nvPr/>
        </p:nvSpPr>
        <p:spPr>
          <a:xfrm>
            <a:off x="5943600" y="2103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FD9FF"/>
          </a:solidFill>
          <a:ln w="12700">
            <a:solidFill>
              <a:srgbClr val="3FD9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29400" y="2176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F5EC"/>
                </a:solidFill>
              </a:rPr>
              <a:t>ion  </a:t>
            </a:r>
            <a:pPr indent="0" marL="0">
              <a:buNone/>
            </a:pPr>
            <a:r>
              <a:rPr lang="en-US" sz="1600" dirty="0">
                <a:solidFill>
                  <a:srgbClr val="93AE9D"/>
                </a:solidFill>
              </a:rPr>
              <a:t>narasi AI</a:t>
            </a:r>
            <a:endParaRPr lang="en-US" sz="1600" dirty="0"/>
          </a:p>
        </p:txBody>
      </p:sp>
      <p:sp>
        <p:nvSpPr>
          <p:cNvPr id="48" name="sw-paper"/>
          <p:cNvSpPr/>
          <p:nvPr/>
        </p:nvSpPr>
        <p:spPr>
          <a:xfrm>
            <a:off x="5943600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3EEDF"/>
          </a:solidFill>
          <a:ln w="12700">
            <a:solidFill>
              <a:srgbClr val="F3EED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29400" y="2862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F5EC"/>
                </a:solidFill>
              </a:rPr>
              <a:t>paper  </a:t>
            </a:r>
            <a:pPr indent="0" marL="0">
              <a:buNone/>
            </a:pPr>
            <a:r>
              <a:rPr lang="en-US" sz="1600" dirty="0">
                <a:solidFill>
                  <a:srgbClr val="93AE9D"/>
                </a:solidFill>
              </a:rPr>
              <a:t>kutipan teks resmi</a:t>
            </a:r>
            <a:endParaRPr lang="en-US" sz="1600" dirty="0"/>
          </a:p>
        </p:txBody>
      </p:sp>
      <p:sp>
        <p:nvSpPr>
          <p:cNvPr id="50" name="sw-amber"/>
          <p:cNvSpPr/>
          <p:nvPr/>
        </p:nvSpPr>
        <p:spPr>
          <a:xfrm>
            <a:off x="5943600" y="34747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B23E"/>
          </a:solidFill>
          <a:ln w="12700">
            <a:solidFill>
              <a:srgbClr val="FFB23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629400" y="35478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F5EC"/>
                </a:solidFill>
              </a:rPr>
              <a:t>amber  </a:t>
            </a:r>
            <a:pPr indent="0" marL="0">
              <a:buNone/>
            </a:pPr>
            <a:r>
              <a:rPr lang="en-US" sz="1600" dirty="0">
                <a:solidFill>
                  <a:srgbClr val="93AE9D"/>
                </a:solidFill>
              </a:rPr>
              <a:t>keterbatasan &amp; flag</a:t>
            </a:r>
            <a:endParaRPr lang="en-US" sz="1600" dirty="0"/>
          </a:p>
        </p:txBody>
      </p:sp>
      <p:sp>
        <p:nvSpPr>
          <p:cNvPr id="52" name="sw-coral"/>
          <p:cNvSpPr/>
          <p:nvPr/>
        </p:nvSpPr>
        <p:spPr>
          <a:xfrm>
            <a:off x="5943600" y="4160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629400" y="4233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F5EC"/>
                </a:solidFill>
              </a:rPr>
              <a:t>coral  </a:t>
            </a:r>
            <a:pPr indent="0" marL="0">
              <a:buNone/>
            </a:pPr>
            <a:r>
              <a:rPr lang="en-US" sz="1600" dirty="0">
                <a:solidFill>
                  <a:srgbClr val="93AE9D"/>
                </a:solidFill>
              </a:rPr>
              <a:t>negatif &amp; bahaya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5943600" y="49834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F5EC"/>
                </a:solidFill>
              </a:rPr>
              <a:t>Tipografi: Unbounded untuk judul, IBM Plex Sans untuk UI dan angka tabular, IBM Plex Serif untuk kutipan resmi. Interaksi: Index Search, Orbit Rail, Evidence Pane, Baki Banding, Konsultasi Terpandu.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LAIwyer dan FinLAIwyer</a:t>
            </a:r>
            <a:endParaRPr lang="en-US" sz="3400" dirty="0"/>
          </a:p>
        </p:txBody>
      </p:sp>
      <p:sp>
        <p:nvSpPr>
          <p:cNvPr id="3" name="law-mylaiwyer"/>
          <p:cNvSpPr/>
          <p:nvPr/>
        </p:nvSpPr>
        <p:spPr>
          <a:xfrm>
            <a:off x="548640" y="1371600"/>
            <a:ext cx="5440680" cy="3566160"/>
          </a:xfrm>
          <a:prstGeom prst="roundRect">
            <a:avLst>
              <a:gd name="adj" fmla="val 35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4" name="law-ic-mylaiwy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My LAIwyer — hukum umum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6060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11 dokumen: UUD 1945, KUHP baru, KUHAP 1981 &amp; 2025, UU 1/2026, KUHPerdata, bantuan hukum, gugatan sederhana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840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D9FF"/>
                </a:solidFill>
              </a:rPr>
              <a:t>3 alur terpandu: diperiksa polisi, gugatan ganti rugi, hierarki peraturan</a:t>
            </a:r>
            <a:endParaRPr lang="en-US" sz="1400" dirty="0"/>
          </a:p>
        </p:txBody>
      </p:sp>
      <p:sp>
        <p:nvSpPr>
          <p:cNvPr id="8" name="law-finlaiwyer"/>
          <p:cNvSpPr/>
          <p:nvPr/>
        </p:nvSpPr>
        <p:spPr>
          <a:xfrm>
            <a:off x="6172200" y="1371600"/>
            <a:ext cx="5440680" cy="3566160"/>
          </a:xfrm>
          <a:prstGeom prst="roundRect">
            <a:avLst>
              <a:gd name="adj" fmla="val 35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9" name="law-ic-finlaiwy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4592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6092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FinLAIwyer — keuangan &amp; perbankan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446520" y="26060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30 dokumen: UU P2SK, OJK, Perbankan, BI, Transfer Dana, TPPU, PDP, ITE, POJK 22/2023, PBI 6/2026, dan lainnya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3840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D9FF"/>
                </a:solidFill>
              </a:rPr>
              <a:t>7 alur terpandu: baru tertipu, uang nyasar, teror pinjol, investasi bodong, transaksi tidak sah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EEDF"/>
                </a:solidFill>
              </a:rPr>
              <a:t>Kutipan hanya dari teks resmi terverifikasi. </a:t>
            </a:r>
            <a:pPr indent="0" marL="0">
              <a:buNone/>
            </a:pPr>
            <a:r>
              <a:rPr lang="en-US" sz="1500" dirty="0">
                <a:solidFill>
                  <a:srgbClr val="E9F5EC"/>
                </a:solidFill>
              </a:rPr>
              <a:t>Status dokumen selalu disebut; ancaman pidana UU sektoral dibaca bersama UU 1/2026. Informasi hukum, bukan nasihat hukum.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AntiScamDex: data penanganan scam</a:t>
            </a:r>
            <a:endParaRPr lang="en-US" sz="3400" dirty="0"/>
          </a:p>
        </p:txBody>
      </p:sp>
      <p:graphicFrame>
        <p:nvGraphicFramePr>
          <p:cNvPr id="3" name="chart-reports" descr=""/>
          <p:cNvGraphicFramePr/>
          <p:nvPr/>
        </p:nvGraphicFramePr>
        <p:xfrm>
          <a:off x="548640" y="132588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-funds" descr=""/>
          <p:cNvGraphicFramePr/>
          <p:nvPr/>
        </p:nvGraphicFramePr>
        <p:xfrm>
          <a:off x="6355080" y="1325880"/>
          <a:ext cx="5257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074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F5EC"/>
                </a:solidFill>
              </a:rPr>
              <a:t>Per 30 Sep 2026: 702.833 rekening diblokir (51,21% dari yang dilaporkan); dana dikembalikan 25,54% dari dana diblokir. Fitur: Baru kena scam, Siapkan Laporan (offline), Statistik, Kenali Modus, Kanal Resmi.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5833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3AE9D"/>
                </a:solidFill>
              </a:rPr>
              <a:t>Sumber: siaran pers OJK/Satgas PASTI (SP 15/GKPB/OJK/I/2026, SP 16/STPASTI/VIII/2026), Kontan &amp; Bisnis.com 6 Okt 2026. Finandex tidak berafiliasi dengan IASC/OJK.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dan privasi</a:t>
            </a:r>
            <a:endParaRPr lang="en-US" sz="3400" dirty="0"/>
          </a:p>
        </p:txBody>
      </p:sp>
      <p:pic>
        <p:nvPicPr>
          <p:cNvPr id="3" name="sec-ic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35608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Secret hanya di server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175564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Bundel klien dipindai pola kunci; CSP ketat, CORS allowlist, rate limit</a:t>
            </a:r>
            <a:endParaRPr lang="en-US" sz="1400" dirty="0"/>
          </a:p>
        </p:txBody>
      </p:sp>
      <p:pic>
        <p:nvPicPr>
          <p:cNvPr id="6" name="sec-ic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14016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2350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Data sensitif diblokir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273405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Seed phrase, private key, kartu, NIK, OTP/PIN, dan nomor rekening dicegah sebelum terkirim</a:t>
            </a:r>
            <a:endParaRPr lang="en-US" sz="1400" dirty="0"/>
          </a:p>
        </p:txBody>
      </p:sp>
      <p:pic>
        <p:nvPicPr>
          <p:cNvPr id="9" name="sec-ic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92424"/>
            <a:ext cx="457200" cy="4572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71600" y="33284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Tanpa akun &amp; tanpa pelacakan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1371600" y="371246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Riwayat chat, watchlist, dan isian Siapkan Laporan hanya di perangkat (terenkripsi)</a:t>
            </a:r>
            <a:endParaRPr lang="en-US" sz="1400" dirty="0"/>
          </a:p>
        </p:txBody>
      </p:sp>
      <p:pic>
        <p:nvPicPr>
          <p:cNvPr id="12" name="sec-ic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70832"/>
            <a:ext cx="457200" cy="4572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43068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Tidak meniru lembaga resmi</a:t>
            </a:r>
            <a:endParaRPr lang="en-US" sz="1700" dirty="0"/>
          </a:p>
        </p:txBody>
      </p:sp>
      <p:sp>
        <p:nvSpPr>
          <p:cNvPr id="14" name="Text 8"/>
          <p:cNvSpPr txBox="1"/>
          <p:nvPr/>
        </p:nvSpPr>
        <p:spPr>
          <a:xfrm>
            <a:off x="1371600" y="46908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Tanpa logo OJK/BI/IASC; tidak ada formulir laporan atas nama lembaga</a:t>
            </a:r>
            <a:endParaRPr lang="en-US" sz="1400" dirty="0"/>
          </a:p>
        </p:txBody>
      </p:sp>
      <p:pic>
        <p:nvPicPr>
          <p:cNvPr id="15" name="sec-ic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34924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71600" y="52852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Isi dataset = data</a:t>
            </a:r>
            <a:endParaRPr lang="en-US" sz="1700" dirty="0"/>
          </a:p>
        </p:txBody>
      </p:sp>
      <p:sp>
        <p:nvSpPr>
          <p:cNvPr id="17" name="Text 10"/>
          <p:cNvSpPr txBox="1"/>
          <p:nvPr/>
        </p:nvSpPr>
        <p:spPr>
          <a:xfrm>
            <a:off x="1371600" y="5669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Teks dataset tidak pernah menjadi instruksi; eval memuat kasus prompt injection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commit sampai aplikasi terpasang</a:t>
            </a:r>
            <a:endParaRPr lang="en-US" sz="3400" dirty="0"/>
          </a:p>
        </p:txBody>
      </p:sp>
      <p:sp>
        <p:nvSpPr>
          <p:cNvPr id="3" name="flow-0"/>
          <p:cNvSpPr/>
          <p:nvPr/>
        </p:nvSpPr>
        <p:spPr>
          <a:xfrm>
            <a:off x="548640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GitHub main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Claude Code &amp; Lovable</a:t>
            </a:r>
            <a:endParaRPr lang="en-US" sz="1200" dirty="0"/>
          </a:p>
        </p:txBody>
      </p:sp>
      <p:sp>
        <p:nvSpPr>
          <p:cNvPr id="7" name="flow-arr-0"/>
          <p:cNvSpPr/>
          <p:nvPr/>
        </p:nvSpPr>
        <p:spPr>
          <a:xfrm>
            <a:off x="2560320" y="3108960"/>
            <a:ext cx="256032" cy="0"/>
          </a:xfrm>
          <a:prstGeom prst="line">
            <a:avLst/>
          </a:prstGeom>
          <a:noFill/>
          <a:ln w="19050">
            <a:solidFill>
              <a:srgbClr val="19F23A"/>
            </a:solidFill>
            <a:prstDash val="solid"/>
            <a:tailEnd type="triangle"/>
          </a:ln>
        </p:spPr>
      </p:sp>
      <p:sp>
        <p:nvSpPr>
          <p:cNvPr id="8" name="flow-1"/>
          <p:cNvSpPr/>
          <p:nvPr/>
        </p:nvSpPr>
        <p:spPr>
          <a:xfrm>
            <a:off x="2816352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9923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999232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CI: npm run verify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lint · test · golden · eval · E2E · a11y</a:t>
            </a:r>
            <a:endParaRPr lang="en-US" sz="1200" dirty="0"/>
          </a:p>
        </p:txBody>
      </p:sp>
      <p:sp>
        <p:nvSpPr>
          <p:cNvPr id="12" name="flow-arr-1"/>
          <p:cNvSpPr/>
          <p:nvPr/>
        </p:nvSpPr>
        <p:spPr>
          <a:xfrm>
            <a:off x="4828032" y="3108960"/>
            <a:ext cx="256032" cy="0"/>
          </a:xfrm>
          <a:prstGeom prst="line">
            <a:avLst/>
          </a:prstGeom>
          <a:noFill/>
          <a:ln w="19050">
            <a:solidFill>
              <a:srgbClr val="19F23A"/>
            </a:solidFill>
            <a:prstDash val="solid"/>
            <a:tailEnd type="triangle"/>
          </a:ln>
        </p:spPr>
      </p:sp>
      <p:sp>
        <p:nvSpPr>
          <p:cNvPr id="13" name="flow-2"/>
          <p:cNvSpPr/>
          <p:nvPr/>
        </p:nvSpPr>
        <p:spPr>
          <a:xfrm>
            <a:off x="5084064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6694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266944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Preview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66944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Vercel · Netlify · Lovable</a:t>
            </a:r>
            <a:endParaRPr lang="en-US" sz="1200" dirty="0"/>
          </a:p>
        </p:txBody>
      </p:sp>
      <p:sp>
        <p:nvSpPr>
          <p:cNvPr id="17" name="flow-arr-2"/>
          <p:cNvSpPr/>
          <p:nvPr/>
        </p:nvSpPr>
        <p:spPr>
          <a:xfrm>
            <a:off x="7095744" y="3108960"/>
            <a:ext cx="256032" cy="0"/>
          </a:xfrm>
          <a:prstGeom prst="line">
            <a:avLst/>
          </a:prstGeom>
          <a:noFill/>
          <a:ln w="19050">
            <a:solidFill>
              <a:srgbClr val="19F23A"/>
            </a:solidFill>
            <a:prstDash val="solid"/>
            <a:tailEnd type="triangle"/>
          </a:ln>
        </p:spPr>
      </p:sp>
      <p:sp>
        <p:nvSpPr>
          <p:cNvPr id="18" name="flow-3"/>
          <p:cNvSpPr/>
          <p:nvPr/>
        </p:nvSpPr>
        <p:spPr>
          <a:xfrm>
            <a:off x="7351776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3465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7534656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release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534656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fast-forward saat hijau</a:t>
            </a:r>
            <a:endParaRPr lang="en-US" sz="1200" dirty="0"/>
          </a:p>
        </p:txBody>
      </p:sp>
      <p:sp>
        <p:nvSpPr>
          <p:cNvPr id="22" name="flow-arr-3"/>
          <p:cNvSpPr/>
          <p:nvPr/>
        </p:nvSpPr>
        <p:spPr>
          <a:xfrm>
            <a:off x="9363456" y="3108960"/>
            <a:ext cx="256032" cy="0"/>
          </a:xfrm>
          <a:prstGeom prst="line">
            <a:avLst/>
          </a:prstGeom>
          <a:noFill/>
          <a:ln w="19050">
            <a:solidFill>
              <a:srgbClr val="19F23A"/>
            </a:solidFill>
            <a:prstDash val="solid"/>
            <a:tailEnd type="triangle"/>
          </a:ln>
        </p:spPr>
      </p:sp>
      <p:sp>
        <p:nvSpPr>
          <p:cNvPr id="23" name="flow-4"/>
          <p:cNvSpPr/>
          <p:nvPr/>
        </p:nvSpPr>
        <p:spPr>
          <a:xfrm>
            <a:off x="9619488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02368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9802368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Distribusi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802368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Web/PWA · App Store · Play · .dmg · .exe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F5EC"/>
                </a:solidFill>
              </a:rPr>
              <a:t>Rollback: Vercel Instant Rollback atau publish ulang deploy Netlify sebelumnya. Data input &amp; dokumen regulasi disimpan di GitHub Releases dengan checksum.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Whitepaper Finandex</a:t>
            </a:r>
            <a:endParaRPr lang="en-US" sz="3400" dirty="0"/>
          </a:p>
        </p:txBody>
      </p:sp>
      <p:pic>
        <p:nvPicPr>
          <p:cNvPr id="3" name="wp-cover-id" descr="/home/claude/finandex/kit/whitepaper/assets/cover_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331720" cy="3310128"/>
          </a:xfrm>
          <a:prstGeom prst="rect">
            <a:avLst/>
          </a:prstGeom>
        </p:spPr>
      </p:pic>
      <p:pic>
        <p:nvPicPr>
          <p:cNvPr id="4" name="wp-cover-en" descr="/home/claude/finandex/kit/whitepaper/assets/cover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325880"/>
            <a:ext cx="2331720" cy="33101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709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Bahasa Indonesia (31 halaman)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3063240" y="4709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English (20 pages)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852160" y="13258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9F23A"/>
                </a:solidFill>
              </a:rPr>
              <a:t>Isi whitepaper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852160" y="1828800"/>
            <a:ext cx="5760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F5EC"/>
                </a:solidFill>
              </a:rPr>
              <a:t>Ringkasan eksekutif, masalah, visi &amp; prinsip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F5EC"/>
                </a:solidFill>
              </a:rPr>
              <a:t>Peta 29 Dex dalam 8 kategori + katalog fungsi per Dex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F5EC"/>
                </a:solidFill>
              </a:rPr>
              <a:t>Data, pembersihan, golden fixtures &amp; paritas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F5EC"/>
                </a:solidFill>
              </a:rPr>
              <a:t>Mesin chatbot &amp; format jawaban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F5EC"/>
                </a:solidFill>
              </a:rPr>
              <a:t>My LAIwyer, FinLAIwyer &amp; AntiScamDex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F5EC"/>
                </a:solidFill>
              </a:rPr>
              <a:t>Tech stack lengkap: frontend, backend, AI, data, mobile, desktop, DevOps, QA, keamanan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F5EC"/>
                </a:solidFill>
              </a:rPr>
              <a:t>Sistem desain, kepatuhan, batasan, peta jalan</a:t>
            </a:r>
            <a:endParaRPr lang="en-US" sz="1400" dirty="0"/>
          </a:p>
        </p:txBody>
      </p:sp>
      <p:sp>
        <p:nvSpPr>
          <p:cNvPr id="9" name="wp-download"/>
          <p:cNvSpPr/>
          <p:nvPr/>
        </p:nvSpPr>
        <p:spPr>
          <a:xfrm>
            <a:off x="5852160" y="4983480"/>
            <a:ext cx="5760720" cy="914400"/>
          </a:xfrm>
          <a:prstGeom prst="roundRect">
            <a:avLst>
              <a:gd name="adj" fmla="val 1400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10" name="wp-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516636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766560" y="513892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9F5EC"/>
                </a:solidFill>
              </a:rPr>
              <a:t>Unduh di aplikasi: </a:t>
            </a:r>
            <a:pPr indent="0" marL="0">
              <a:buNone/>
            </a:pPr>
            <a:r>
              <a:rPr lang="en-US" sz="1300" dirty="0">
                <a:solidFill>
                  <a:srgbClr val="93AE9D"/>
                </a:solidFill>
              </a:rPr>
              <a:t>halaman /whitepaper — PDF Bahasa Indonesia &amp; English, plus presentasi ini (.pptx). Tersedia offline.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berikutnya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Bangun dengan Master Prompt v3 di Claude Code, unggah dokumen hukum yang masih menunggu, siapkan akun store &amp; sertifikat tanda tangan, lalu rilis.</a:t>
            </a:r>
            <a:endParaRPr lang="en-US" sz="2000" dirty="0"/>
          </a:p>
        </p:txBody>
      </p:sp>
      <p:sp>
        <p:nvSpPr>
          <p:cNvPr id="4" name="motif-line"/>
          <p:cNvSpPr/>
          <p:nvPr/>
        </p:nvSpPr>
        <p:spPr>
          <a:xfrm>
            <a:off x="9012422" y="1815775"/>
            <a:ext cx="881386" cy="1293185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5" name="motif-line"/>
          <p:cNvSpPr/>
          <p:nvPr/>
        </p:nvSpPr>
        <p:spPr>
          <a:xfrm flipV="1">
            <a:off x="9893808" y="1980953"/>
            <a:ext cx="435381" cy="1128007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6" name="motif-line"/>
          <p:cNvSpPr/>
          <p:nvPr/>
        </p:nvSpPr>
        <p:spPr>
          <a:xfrm>
            <a:off x="9195515" y="3030428"/>
            <a:ext cx="698293" cy="78532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7" name="motif-line"/>
          <p:cNvSpPr/>
          <p:nvPr/>
        </p:nvSpPr>
        <p:spPr>
          <a:xfrm flipV="1">
            <a:off x="9138048" y="3108960"/>
            <a:ext cx="755760" cy="613461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8" name="motif-line"/>
          <p:cNvSpPr/>
          <p:nvPr/>
        </p:nvSpPr>
        <p:spPr>
          <a:xfrm>
            <a:off x="9893808" y="3108960"/>
            <a:ext cx="1405416" cy="1060862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9" name="motif-line"/>
          <p:cNvSpPr/>
          <p:nvPr/>
        </p:nvSpPr>
        <p:spPr>
          <a:xfrm>
            <a:off x="8625746" y="2284185"/>
            <a:ext cx="1268062" cy="824775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0" name="motif-line"/>
          <p:cNvSpPr/>
          <p:nvPr/>
        </p:nvSpPr>
        <p:spPr>
          <a:xfrm flipV="1">
            <a:off x="9893808" y="2411734"/>
            <a:ext cx="1009013" cy="697226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1" name="motif-line"/>
          <p:cNvSpPr/>
          <p:nvPr/>
        </p:nvSpPr>
        <p:spPr>
          <a:xfrm flipV="1">
            <a:off x="8096887" y="3108960"/>
            <a:ext cx="1796921" cy="1048397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2" name="motif-line"/>
          <p:cNvSpPr/>
          <p:nvPr/>
        </p:nvSpPr>
        <p:spPr>
          <a:xfrm flipV="1">
            <a:off x="8801044" y="3108960"/>
            <a:ext cx="1092764" cy="291649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3" name="motif-line"/>
          <p:cNvSpPr/>
          <p:nvPr/>
        </p:nvSpPr>
        <p:spPr>
          <a:xfrm>
            <a:off x="8942261" y="931714"/>
            <a:ext cx="951547" cy="2177246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4" name="motif-node"/>
          <p:cNvSpPr/>
          <p:nvPr/>
        </p:nvSpPr>
        <p:spPr>
          <a:xfrm>
            <a:off x="8971274" y="1774627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5" name="motif-node"/>
          <p:cNvSpPr/>
          <p:nvPr/>
        </p:nvSpPr>
        <p:spPr>
          <a:xfrm>
            <a:off x="11395051" y="2536901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6" name="motif-node"/>
          <p:cNvSpPr/>
          <p:nvPr/>
        </p:nvSpPr>
        <p:spPr>
          <a:xfrm>
            <a:off x="10288041" y="1939805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7" name="motif-node"/>
          <p:cNvSpPr/>
          <p:nvPr/>
        </p:nvSpPr>
        <p:spPr>
          <a:xfrm>
            <a:off x="11511434" y="2749116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8" name="motif-node"/>
          <p:cNvSpPr/>
          <p:nvPr/>
        </p:nvSpPr>
        <p:spPr>
          <a:xfrm>
            <a:off x="9154367" y="2989280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9" name="motif-node"/>
          <p:cNvSpPr/>
          <p:nvPr/>
        </p:nvSpPr>
        <p:spPr>
          <a:xfrm>
            <a:off x="11462245" y="4071406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0" name="motif-node"/>
          <p:cNvSpPr/>
          <p:nvPr/>
        </p:nvSpPr>
        <p:spPr>
          <a:xfrm>
            <a:off x="9096900" y="3681273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1" name="motif-node"/>
          <p:cNvSpPr/>
          <p:nvPr/>
        </p:nvSpPr>
        <p:spPr>
          <a:xfrm>
            <a:off x="10452749" y="859325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2" name="motif-node"/>
          <p:cNvSpPr/>
          <p:nvPr/>
        </p:nvSpPr>
        <p:spPr>
          <a:xfrm>
            <a:off x="11258076" y="4128674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3" name="motif-node"/>
          <p:cNvSpPr/>
          <p:nvPr/>
        </p:nvSpPr>
        <p:spPr>
          <a:xfrm>
            <a:off x="11115514" y="1523096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4" name="motif-node"/>
          <p:cNvSpPr/>
          <p:nvPr/>
        </p:nvSpPr>
        <p:spPr>
          <a:xfrm>
            <a:off x="8584598" y="2243037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5" name="motif-node"/>
          <p:cNvSpPr/>
          <p:nvPr/>
        </p:nvSpPr>
        <p:spPr>
          <a:xfrm>
            <a:off x="11016654" y="3635608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6" name="motif-node"/>
          <p:cNvSpPr/>
          <p:nvPr/>
        </p:nvSpPr>
        <p:spPr>
          <a:xfrm>
            <a:off x="10861673" y="2370586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7" name="motif-node"/>
          <p:cNvSpPr/>
          <p:nvPr/>
        </p:nvSpPr>
        <p:spPr>
          <a:xfrm>
            <a:off x="8914393" y="4092416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8" name="motif-node"/>
          <p:cNvSpPr/>
          <p:nvPr/>
        </p:nvSpPr>
        <p:spPr>
          <a:xfrm>
            <a:off x="8055739" y="4116209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9" name="motif-node"/>
          <p:cNvSpPr/>
          <p:nvPr/>
        </p:nvSpPr>
        <p:spPr>
          <a:xfrm>
            <a:off x="9676500" y="3175742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0" name="motif-node"/>
          <p:cNvSpPr/>
          <p:nvPr/>
        </p:nvSpPr>
        <p:spPr>
          <a:xfrm>
            <a:off x="8759896" y="3359461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1" name="motif-node"/>
          <p:cNvSpPr/>
          <p:nvPr/>
        </p:nvSpPr>
        <p:spPr>
          <a:xfrm>
            <a:off x="7739810" y="2522476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2" name="motif-node"/>
          <p:cNvSpPr/>
          <p:nvPr/>
        </p:nvSpPr>
        <p:spPr>
          <a:xfrm>
            <a:off x="8901113" y="890566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3" name="motif-node"/>
          <p:cNvSpPr/>
          <p:nvPr/>
        </p:nvSpPr>
        <p:spPr>
          <a:xfrm>
            <a:off x="9462224" y="1568173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4" name="motif-core"/>
          <p:cNvSpPr/>
          <p:nvPr/>
        </p:nvSpPr>
        <p:spPr>
          <a:xfrm>
            <a:off x="9774936" y="2990088"/>
            <a:ext cx="237744" cy="237744"/>
          </a:xfrm>
          <a:prstGeom prst="ellipse">
            <a:avLst/>
          </a:prstGeom>
          <a:solidFill>
            <a:srgbClr val="07130D"/>
          </a:solidFill>
          <a:ln w="25400">
            <a:solidFill>
              <a:srgbClr val="19F2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51206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Finandex dirancang dan dikembangkan oleh Dea Saka Kurnia Putra — A BRIGHTER TOMORROW THROUGH MEANINGFUL WORK</a:t>
            </a:r>
            <a:endParaRPr lang="en-US" sz="1400" dirty="0"/>
          </a:p>
        </p:txBody>
      </p:sp>
      <p:pic>
        <p:nvPicPr>
          <p:cNvPr id="36" name="personal-mark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5806440"/>
            <a:ext cx="457200" cy="45720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325880" y="5897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3AE9D"/>
                </a:solidFill>
              </a:rPr>
              <a:t>© 2026 Dea Saka Kurnia Putra. Hak cipta dilindungi undang-undang.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andex Nocturne">
  <a:themeElements>
    <a:clrScheme name="Finandex Nocturne">
      <a:dk1>
        <a:srgbClr val="E9F5EC"/>
      </a:dk1>
      <a:lt1>
        <a:srgbClr val="07130D"/>
      </a:lt1>
      <a:dk2>
        <a:srgbClr val="93AE9D"/>
      </a:dk2>
      <a:lt2>
        <a:srgbClr val="0C1D15"/>
      </a:lt2>
      <a:accent1>
        <a:srgbClr val="19F23A"/>
      </a:accent1>
      <a:accent2>
        <a:srgbClr val="3FD9FF"/>
      </a:accent2>
      <a:accent3>
        <a:srgbClr val="FFB23E"/>
      </a:accent3>
      <a:accent4>
        <a:srgbClr val="FF6B5E"/>
      </a:accent4>
      <a:accent5>
        <a:srgbClr val="B79CFF"/>
      </a:accent5>
      <a:accent6>
        <a:srgbClr val="2ED3B7"/>
      </a:accent6>
      <a:hlink>
        <a:srgbClr val="3FD9FF"/>
      </a:hlink>
      <a:folHlink>
        <a:srgbClr val="B79CFF"/>
      </a:folHlink>
    </a:clrScheme>
    <a:fontScheme name="Finandex Nocturn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Finandex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Finandex — Gambaran Platform &amp; Tech Stack</dc:title>
  <dc:subject>Presentasi platform Finandex</dc:subject>
  <dc:creator>Dea Saka Kurnia Putra</dc:creator>
  <cp:lastModifiedBy>Dea Saka Kurnia Putra</cp:lastModifiedBy>
  <cp:revision>1</cp:revision>
  <dcterms:created xsi:type="dcterms:W3CDTF">2026-10-22T23:09:39Z</dcterms:created>
  <dcterms:modified xsi:type="dcterms:W3CDTF">2026-10-22T23:09:39Z</dcterms:modified>
</cp:coreProperties>
</file>
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andex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EEF3EF"/>
                </a:solidFill>
                <a:latin typeface="Arial"/>
              </a:rPr>
              <a:t>Finandex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9F23A"/>
                </a:solidFill>
                <a:latin typeface="Arial"/>
              </a:rPr>
              <a:t>Wawasan Indeks Pasar Keuangan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DB0A4"/>
                </a:solidFill>
                <a:latin typeface="Arial"/>
              </a:rPr>
              <a:t>27 chatbot berbasis data untuk pasar, ekonomi, dan hukum — termasuk hukum keuangan dan bantuan korban penipuan</a:t>
            </a:r>
          </a:p>
        </p:txBody>
      </p:sp>
      <p:pic>
        <p:nvPicPr>
          <p:cNvPr id="6" name="Picture 5" descr="dskp-mark-on-dark-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62356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4440" y="5650992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EF3EF"/>
                </a:solidFill>
                <a:latin typeface="Arial"/>
              </a:rPr>
              <a:t>by Dea Saka Kurnia Putra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650992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Oktober 2026 · finandex-beta.vercel.app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Data ada di mana-mana, kepercayaan tidak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9F23A"/>
                </a:solidFill>
                <a:latin typeface="Arial"/>
              </a:rPr>
              <a:t>Tersebar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10896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EF3EF"/>
                </a:solidFill>
                <a:latin typeface="Arial"/>
              </a:rPr>
              <a:t>Harga, makro, startup, dan sosial tersebar di banyak sumber dengan format, kualitas, dan tanggal berbeda.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9456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23774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9F23A"/>
                </a:solidFill>
                <a:latin typeface="Arial"/>
              </a:rPr>
              <a:t>Tidak dapat ditelusuri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3063240"/>
            <a:ext cx="310896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EF3EF"/>
                </a:solidFill>
                <a:latin typeface="Arial"/>
              </a:rPr>
              <a:t>Chatbot umum lancar menjawab, tetapi jarang menunjukkan asal angka, tanggal data, atau cara menghitungnya.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9456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23774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B020"/>
                </a:solidFill>
                <a:latin typeface="Arial"/>
              </a:rPr>
              <a:t>Korban penipuan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3063240"/>
            <a:ext cx="310896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EF3EF"/>
                </a:solidFill>
                <a:latin typeface="Arial"/>
              </a:rPr>
              <a:t>Penipuan transaksi keuangan terus naik; korban butuh langkah segera, kanal resmi, dan dasar hukum yang jelas.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SOLUSI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Setiap jawaban dapat ditelusuri ke datanya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19F23A"/>
                </a:solidFill>
              </a:rPr>
              <a:t>■  </a:t>
            </a:r>
            <a:r>
              <a:rPr sz="1800">
                <a:solidFill>
                  <a:srgbClr val="EEF3EF"/>
                </a:solidFill>
                <a:latin typeface="Arial"/>
              </a:rPr>
              <a:t>Angka hanya dari dataset terverifikasi SHA-256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19F23A"/>
                </a:solidFill>
              </a:rPr>
              <a:t>■  </a:t>
            </a:r>
            <a:r>
              <a:rPr sz="1800">
                <a:solidFill>
                  <a:srgbClr val="EEF3EF"/>
                </a:solidFill>
                <a:latin typeface="Arial"/>
              </a:rPr>
              <a:t>Grafik, sumber, tanggal data, dan rumus di setiap jawaban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19F23A"/>
                </a:solidFill>
              </a:rPr>
              <a:t>■  </a:t>
            </a:r>
            <a:r>
              <a:rPr sz="1800">
                <a:solidFill>
                  <a:srgbClr val="EEF3EF"/>
                </a:solidFill>
                <a:latin typeface="Arial"/>
              </a:rPr>
              <a:t>Satu jalur hitung: chat = tab fitur (tool yang sama)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19F23A"/>
                </a:solidFill>
              </a:rPr>
              <a:t>■  </a:t>
            </a:r>
            <a:r>
              <a:rPr sz="1800">
                <a:solidFill>
                  <a:srgbClr val="EEF3EF"/>
                </a:solidFill>
                <a:latin typeface="Arial"/>
              </a:rPr>
              <a:t>Kutipan hukum dari teks resmi peraturan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19F23A"/>
                </a:solidFill>
              </a:rPr>
              <a:t>■  </a:t>
            </a:r>
            <a:r>
              <a:rPr sz="1800">
                <a:solidFill>
                  <a:srgbClr val="EEF3EF"/>
                </a:solidFill>
                <a:latin typeface="Arial"/>
              </a:rPr>
              <a:t>Tanpa akun, tanpa pelacakan, offline, dua bahasa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7376" y="1911096"/>
            <a:ext cx="5230368" cy="3310128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t-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65960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SEKILAS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Platform dalam angka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dataset terverifikasi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teks resmi hukum keuangan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362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tool analitik read-only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793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test otomatis lulus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128/128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evaluasi chatbot (mock)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59/59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parity Python ↔ TypeScript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panel fitur interaktif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PRODUK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27 Dex dalam 8 kategori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84247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Pasar Global &amp; Saham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19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Finandex AI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NASDAQDex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SnP500Dex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CommerceDex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IPODex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74519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84247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Pasar &amp; Ekonomi Indonesia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60319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IDFinanDex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RupiahDex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IDXDex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ReksaDex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84247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Kripto &amp; Makro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60319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CryptDex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CentralBankDex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InflationDex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874519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984247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Startup, VC &amp; Perusahaan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560319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StartupDex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VCDex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VCNetworkDex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OpenCompanyDex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24528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Biaya Hidup, Kerja &amp; Rumah Tangga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SalaryDex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CostLivingDex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IDHousingDex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IDFoodDeliveryDex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1148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224528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Sosial &amp; Pembangunan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800600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PovertyDex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PopulationDex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HomelessnessDex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HousingDex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148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224528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Sentimen &amp; Keuangan Pribadi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FintechDex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PersonalFinanDex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1148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224528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9F23A"/>
                </a:solidFill>
                <a:latin typeface="Arial"/>
              </a:rPr>
              <a:t>Hukum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800600"/>
            <a:ext cx="24688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EF3EF"/>
                </a:solidFill>
                <a:latin typeface="Arial"/>
              </a:rPr>
              <a:t>My LAIwyer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PENGALAMAN PENGGUNA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Beranda: peta seluruh fitur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" y="1773936"/>
            <a:ext cx="7059168" cy="4453128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me-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900">
                <a:solidFill>
                  <a:srgbClr val="19F23A"/>
                </a:solidFill>
              </a:rPr>
              <a:t>■  </a:t>
            </a:r>
            <a:r>
              <a:rPr sz="1500">
                <a:solidFill>
                  <a:srgbClr val="EEF3EF"/>
                </a:solidFill>
                <a:latin typeface="Arial"/>
              </a:rPr>
              <a:t>Kolom "Tanya Finandex AI" + saran lintas kategori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900">
                <a:solidFill>
                  <a:srgbClr val="19F23A"/>
                </a:solidFill>
              </a:rPr>
              <a:t>■  </a:t>
            </a:r>
            <a:r>
              <a:rPr sz="1500">
                <a:solidFill>
                  <a:srgbClr val="EEF3EF"/>
                </a:solidFill>
                <a:latin typeface="Arial"/>
              </a:rPr>
              <a:t>Ringkasan 6 aset dengan sparkline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900">
                <a:solidFill>
                  <a:srgbClr val="19F23A"/>
                </a:solidFill>
              </a:rPr>
              <a:t>■  </a:t>
            </a:r>
            <a:r>
              <a:rPr sz="1500">
                <a:solidFill>
                  <a:srgbClr val="EEF3EF"/>
                </a:solidFill>
                <a:latin typeface="Arial"/>
              </a:rPr>
              <a:t>Whitepaper: unduh PDF ID / EN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900">
                <a:solidFill>
                  <a:srgbClr val="19F23A"/>
                </a:solidFill>
              </a:rPr>
              <a:t>■  </a:t>
            </a:r>
            <a:r>
              <a:rPr sz="1500">
                <a:solidFill>
                  <a:srgbClr val="EEF3EF"/>
                </a:solidFill>
                <a:latin typeface="Arial"/>
              </a:rPr>
              <a:t>Peta fitur: cari, kategori, filter Indonesia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900">
                <a:solidFill>
                  <a:srgbClr val="19F23A"/>
                </a:solidFill>
              </a:rPr>
              <a:t>■  </a:t>
            </a:r>
            <a:r>
              <a:rPr sz="1500">
                <a:solidFill>
                  <a:srgbClr val="EEF3EF"/>
                </a:solidFill>
                <a:latin typeface="Arial"/>
              </a:rPr>
              <a:t>Strip "Data per" semua 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HALAMAN DEX &amp;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Tab fitur dan kartu jawaban yang menjelaskan dirinya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" y="1865376"/>
            <a:ext cx="5596128" cy="3538728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x-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54496" y="1865376"/>
            <a:ext cx="5596128" cy="3538728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t-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4864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7784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DB0A4"/>
                </a:solidFill>
                <a:latin typeface="Arial"/>
              </a:rPr>
              <a:t>Tab fitur menjalankan tool yang sama dengan chatbot, langsung di browser.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57784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DB0A4"/>
                </a:solidFill>
                <a:latin typeface="Arial"/>
              </a:rPr>
              <a:t>Panel "Kenapa jawabannya begini?": data, periode, baris, rumus.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MY LAIWYER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Bantuan korban penipuan keuangan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" y="1773936"/>
            <a:ext cx="6510528" cy="4110228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m-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400800" cy="400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8288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800">
                <a:solidFill>
                  <a:srgbClr val="19F23A"/>
                </a:solidFill>
              </a:rPr>
              <a:t>■  </a:t>
            </a:r>
            <a:r>
              <a:rPr sz="1400">
                <a:solidFill>
                  <a:srgbClr val="EEF3EF"/>
                </a:solidFill>
                <a:latin typeface="Arial"/>
              </a:rPr>
              <a:t>8 skenario: OTP/phishing, investasi bodong, pinjol ilegal, salah transfer, transfer ke penipu, skimming, rekening penampung, kebocoran data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800">
                <a:solidFill>
                  <a:srgbClr val="19F23A"/>
                </a:solidFill>
              </a:rPr>
              <a:t>■  </a:t>
            </a:r>
            <a:r>
              <a:rPr sz="1400">
                <a:solidFill>
                  <a:srgbClr val="EEF3EF"/>
                </a:solidFill>
                <a:latin typeface="Arial"/>
              </a:rPr>
              <a:t>Langkah segera + kanal resmi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800">
                <a:solidFill>
                  <a:srgbClr val="19F23A"/>
                </a:solidFill>
              </a:rPr>
              <a:t>■  </a:t>
            </a:r>
            <a:r>
              <a:rPr sz="1400">
                <a:solidFill>
                  <a:srgbClr val="EEF3EF"/>
                </a:solidFill>
                <a:latin typeface="Arial"/>
              </a:rPr>
              <a:t>Dasar hukum dikutip dari teks peraturan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617720"/>
            <a:ext cx="4389120" cy="160020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4681728"/>
            <a:ext cx="41148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EF"/>
                </a:solidFill>
                <a:latin typeface="Arial"/>
              </a:rPr>
              <a:t>Bank Anda → blokir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EF"/>
                </a:solidFill>
                <a:latin typeface="Arial"/>
              </a:rPr>
              <a:t>IASC · iasc.ojk.go.id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EF"/>
                </a:solidFill>
                <a:latin typeface="Arial"/>
              </a:rPr>
              <a:t>Kontak OJK 157 · Satgas PASTI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EF"/>
                </a:solidFill>
                <a:latin typeface="Arial"/>
              </a:rPr>
              <a:t>Polisi · BI Bicara 131 · Darurat 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MY LAIWYER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Korpus hukum sektor keuangan: 19 teks resmi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54864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731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F23A"/>
                          </a:solidFill>
                          <a:latin typeface="Arial"/>
                        </a:rPr>
                        <a:t>Dokumen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F23A"/>
                          </a:solidFill>
                          <a:latin typeface="Arial"/>
                        </a:rPr>
                        <a:t>Hal.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4/2023 (P2SK)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4/2026 (Perubahan P2SK)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21/2011 (OJK)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7/1992 (Perbankan)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10/1998 (Perubahan Perbankan)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23/1999 (Bank Indonesia)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24/2004 (LPS)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8/1999 (Perlindungan Konsumen)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3/2011 (Transfer Dana)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8/2010 (TPPU)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182880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731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F23A"/>
                          </a:solidFill>
                          <a:latin typeface="Arial"/>
                        </a:rPr>
                        <a:t>Dokumen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F23A"/>
                          </a:solidFill>
                          <a:latin typeface="Arial"/>
                        </a:rPr>
                        <a:t>Hal.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11/2008 (ITE)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19/2016 (Perubahan ITE)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1/2024 (Perubahan Kedua ITE)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27/2022 (PDP)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UU 1/2023 (KUHP baru)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POJK 22/2023 (Pelindungan Konsumen)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POJK 12/2024 (Anti Fraud)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POJK 40/2024 (Pinjaman Daring)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PBI 3/2023 (Pelindungan Konsumen BI)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EF3EF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0A4"/>
                </a:solidFill>
                <a:latin typeface="Arial"/>
              </a:rPr>
              <a:t>Sumber: peraturan.go.id · ojk.go.id · JDIH BPK — SHA-256 dipatok; teks peraturan tidak dilindungi hak cipta (UU 28/2014 Pasal 42).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Pipeline data terverifikasi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21284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Verifikasi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5176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42 dataset + 19 PDF hukum: ukuran, SHA-256, isi arsip.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3472" y="283464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10312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21284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Ekstrak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65176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ZIP/CSV/Parquet/PDF streaming; konten pihak ketiga = data.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65192" y="283464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210312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21284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Bersihkan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65176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Spike, bad print FX, carry-forward, dedupe, privasi.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96912" y="283464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800" y="210312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221284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Validasi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65176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Skema zod, ≤ 10 digit, tanpa NaN; golden 62/62.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28632" y="283464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210312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221284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Sajikan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265176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core (offline) + heavy; manifest SHA-256.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DB0A4"/>
                </a:solidFill>
                <a:latin typeface="Arial"/>
              </a:rPr>
              <a:t>Analitik diporting 1:1 dari referensi Python dan diuji terhadap nilai acuan (toleransi relatif 1e-6). Rumus yang sama tampil di panel penjelasan.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ARSITEKTUR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Satu codebase, satu jalur angka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2140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A3FF"/>
                </a:solidFill>
                <a:latin typeface="Arial"/>
              </a:rPr>
              <a:t>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TypeScript, tsx: data/inputs → public/data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3472" y="274320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0116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12140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A3FF"/>
                </a:solidFill>
                <a:latin typeface="Arial"/>
              </a:rPr>
              <a:t>Data statis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56032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CDN + CORS; service worker cache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65192" y="274320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20116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12140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A3FF"/>
                </a:solidFill>
                <a:latin typeface="Arial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56032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362 tool read-only, skema zod strict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96912" y="274320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800" y="20116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212140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A3FF"/>
                </a:solidFill>
                <a:latin typeface="Arial"/>
              </a:rPr>
              <a:t>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56032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/api/chat: validasi, rate limit, orkestrator, SSE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28632" y="274320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201168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212140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A3FF"/>
                </a:solidFill>
                <a:latin typeface="Arial"/>
              </a:rPr>
              <a:t>Klien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256032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React PWA + Capacitor; tab fitur jalankan tool di browser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4114800"/>
          <a:ext cx="110642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8696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9F23A"/>
                          </a:solidFill>
                          <a:latin typeface="Arial"/>
                        </a:rPr>
                        <a:t>Mode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9F23A"/>
                          </a:solidFill>
                          <a:latin typeface="Arial"/>
                        </a:rPr>
                        <a:t>Cara kerja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EF3EF"/>
                          </a:solidFill>
                          <a:latin typeface="Arial"/>
                        </a:rPr>
                        <a:t>AI (Claude)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EF3EF"/>
                          </a:solidFill>
                          <a:latin typeface="Arial"/>
                        </a:rPr>
                        <a:t>Model memilih tool dengan skema ketat dan menulis analisis hanya dari hasil tool (≤ 8 giliran, ≤ 12 tool).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EF3EF"/>
                          </a:solidFill>
                          <a:latin typeface="Arial"/>
                        </a:rPr>
                        <a:t>Data (tanpa model)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EEF3EF"/>
                          </a:solidFill>
                          <a:latin typeface="Arial"/>
                        </a:rPr>
                        <a:t>Router deterministik: entitas, periode, peringkat, opsi, negara, skenario penipuan, topik hukum; jawaban disusun dari hasil tool.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Teknologi yang dipakai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9F23A"/>
                          </a:solidFill>
                          <a:latin typeface="Arial"/>
                        </a:rPr>
                        <a:t>Lapisan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9F23A"/>
                          </a:solidFill>
                          <a:latin typeface="Arial"/>
                        </a:rPr>
                        <a:t>Teknologi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Bahasa &amp; runtime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TypeScript 6.0 (strict) · Node.js 24 LTS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Antarmuka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React 19.3 · React Router 8.5 · Vite 8.3 · Tailwind CSS 4.3 · Radix UI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Grafik &amp; dokumen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Apache ECharts 6.1 · pdf.js 6.4 (WASM CCITT/JBIG2)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Data klien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TanStack Query 5 · Zustand 5 · IndexedDB (idb-keyval) · TanStack Virtual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Skema &amp; pencarian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Zod 4.6 · MiniSearch 7.2 (BM25)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ETL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tsx · PapaParse · hyparquet · fflate · pdf.js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Server &amp; AI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Vercel/Netlify Functions (Web Fetch API) · esbuild · Anthropic Claude SDK 1.0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PWA &amp; native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vite-plugin-pwa 2.0 · Workbox 7.4 · Capacitor 8.5 (Android, iOS)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Kualitas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Vitest 5 · Playwright 1.64 · axe-core · ESLint 9 · size-limit · Lighthouse CI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Infrastruktur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3EF"/>
                          </a:solidFill>
                          <a:latin typeface="Arial"/>
                        </a:rPr>
                        <a:t>GitHub (repo, Actions, Releases) · Vercel · Netlify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KUALITAS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Gate kualitas "tanpa cacat"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error lint &amp; typecheck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793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test lulus · cakupan 96%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62/62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golden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01168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17627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128/128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8803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eval chatbot · keamanan 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324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saran pertanyaan dijawab dari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pelanggaran axe serius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≥ 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gate Lighthouse (CI)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931920"/>
            <a:ext cx="2103120" cy="146304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096512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9F23A"/>
                </a:solidFill>
                <a:latin typeface="Arial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80060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kerentanan npm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KEAMANAN &amp; PRIVASI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Aman sejak desain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Tanpa akun, tanpa analytics pihak ketiga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Riwayat &amp; preferensi hanya di perangkat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Blokir seed phrase, private key, kartu, NIK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Server tidak menyimpan isi pesan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CSP ketat, HSTS, CORS allowlist, rate limit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Pertahanan prompt injection: data ≠ instruksi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gitleaks, npm audit, pemeriksa lisensi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9F23A"/>
                </a:solidFill>
              </a:rPr>
              <a:t>■  </a:t>
            </a:r>
            <a:r>
              <a:rPr sz="1700">
                <a:solidFill>
                  <a:srgbClr val="EEF3EF"/>
                </a:solidFill>
                <a:latin typeface="Arial"/>
              </a:rPr>
              <a:t>Kebijakan privasi mengacu UU PDP 27/2022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Dari repositori ke web dan aplikasi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9F23A"/>
                          </a:solidFill>
                          <a:latin typeface="Arial"/>
                        </a:rPr>
                        <a:t>Komponen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9F23A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17221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GitHub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github.com/DSKPutra/finandex_beta · releases data-inputs-v1, law-docs-v1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Vercel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finandex-beta.vercel.app — produksi (web + API)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Netlify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Konfigurasi siap; site finandex-beta menunggu kredit akun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GitHub Actions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ci · parity · promote · android · ios · deploy-fallback · eval-live</a:t>
                      </a:r>
                    </a:p>
                  </a:txBody>
                  <a:tcPr marL="73152" marR="73152" marT="36576" marB="36576">
                    <a:solidFill>
                      <a:srgbClr val="0A0F0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Android / iOS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EF3EF"/>
                          </a:solidFill>
                          <a:latin typeface="Arial"/>
                        </a:rPr>
                        <a:t>Capacitor 8 — APK/AAB &amp; IPA dibangun di CI</a:t>
                      </a:r>
                    </a:p>
                  </a:txBody>
                  <a:tcPr marL="73152" marR="73152" marT="36576" marB="36576">
                    <a:solidFill>
                      <a:srgbClr val="11191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9F23A"/>
                </a:solidFill>
                <a:latin typeface="Arial"/>
              </a:rPr>
              <a:t>PETA JALAN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EF3EF"/>
                </a:solidFill>
                <a:latin typeface="Arial"/>
              </a:rPr>
              <a:t>Langkah berikutnya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7280" cy="38000"/>
          </a:xfrm>
          <a:prstGeom prst="rect">
            <a:avLst/>
          </a:prstGeom>
          <a:solidFill>
            <a:srgbClr val="19F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0428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Mode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Aktifkan Claude di produksi; eval live ≥ 95%.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3472" y="292608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19456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30428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74320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UUD hasil perubahan, KUHPerdata, HIR/RBg, peraturan pelaksana.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65192" y="292608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219456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30428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Lisensi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74320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Konfirmasi lisensi dataset untuk distribusi.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96912" y="292608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800" y="219456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230428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Toko aplikasi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74320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Rilis Android &amp; iOS.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28632" y="2926080"/>
            <a:ext cx="219456" cy="274320"/>
          </a:xfrm>
          <a:prstGeom prst="rightArrow">
            <a:avLst/>
          </a:prstGeom>
          <a:solidFill>
            <a:srgbClr val="9DB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2194560"/>
            <a:ext cx="2057400" cy="1737360"/>
          </a:xfrm>
          <a:prstGeom prst="roundRect">
            <a:avLst>
              <a:gd name="adj" fmla="val 8000"/>
            </a:avLst>
          </a:prstGeom>
          <a:solidFill>
            <a:srgbClr val="17221C"/>
          </a:solidFill>
          <a:ln w="15875">
            <a:solidFill>
              <a:srgbClr val="19F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2304288"/>
            <a:ext cx="183794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9F23A"/>
                </a:solidFill>
                <a:latin typeface="Arial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2743200"/>
            <a:ext cx="183794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EEF3EF"/>
                </a:solidFill>
                <a:latin typeface="Arial"/>
              </a:rPr>
              <a:t>Pembaruan berkala dengan golden test.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© 2026 Dea Saka Kurnia Putra · Finandex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DB0A4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andex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92024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EEF3EF"/>
                </a:solidFill>
                <a:latin typeface="Arial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9F23A"/>
                </a:solidFill>
                <a:latin typeface="Arial"/>
              </a:rPr>
              <a:t>finandex-beta.vercel.app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9F23A"/>
                </a:solidFill>
                <a:latin typeface="Arial"/>
              </a:rPr>
              <a:t>finandex-beta.vercel.app/whitepaper — PDF ID / EN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9F23A"/>
                </a:solidFill>
                <a:latin typeface="Arial"/>
              </a:rPr>
              <a:t>github.com/DSKPutra/finandex_beta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EF3EF"/>
                </a:solidFill>
                <a:latin typeface="Arial"/>
              </a:rPr>
              <a:t>Finandex dirancang dan dikembangkan oleh Dea Saka Kurnia Putra — A BRIGHTER TOMORROW THROUGH MEANINGFUL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DB0A4"/>
                </a:solidFill>
                <a:latin typeface="Arial"/>
              </a:rPr>
              <a:t>Data historis untuk informasi dan edukasi — bukan rekomendasi investasi, nasihat keuangan, maupun nasihat hukum. Data tidak real-time.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0A4"/>
                </a:solidFill>
                <a:latin typeface="Arial"/>
              </a:rPr>
              <a:t>© 2026 Dea Saka Kurnia Putra. Hak cipta dilindungi undang-undang.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Finandex</dc:title>
  <dc:subject>Presentasi platform Finandex</dc:subject>
  <dc:creator>Dea Saka Kurnia Putra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
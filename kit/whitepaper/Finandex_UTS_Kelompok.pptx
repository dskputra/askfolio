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dda999e8-65ec-d5e5-ac80-cb8341dc668f}">
          <p14:sldIdLst>
            <p14:sldId id="256"/>
            <p14:sldId id="257"/>
          </p14:sldIdLst>
        </p14:section>
        <p14:section name="Masalah &amp; solusi" id="{8d0269c1-f51d-5b4b-9f9a-2c3a8cf6f91f}">
          <p14:sldIdLst>
            <p14:sldId id="258"/>
            <p14:sldId id="259"/>
          </p14:sldIdLst>
        </p14:section>
        <p14:section name="Produk" id="{3023def7-ab07-ffad-c2a5-1b77e8c2dac4}">
          <p14:sldIdLst>
            <p14:sldId id="260"/>
          </p14:sldIdLst>
        </p14:section>
        <p14:section name="Arsitektur &amp; tech stack" id="{b77e466d-b6a7-87dc-d406-b0a66e626580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Platform &amp; desain" id="{1dc8dc07-4f43-b43a-af40-5a7dd7487091}">
          <p14:sldIdLst>
            <p14:sldId id="267"/>
            <p14:sldId id="268"/>
          </p14:sldIdLst>
        </p14:section>
        <p14:section name="Hukum &amp; anti-scam" id="{8067ea18-3f96-3f78-b7b8-9a6be1c389d4}">
          <p14:sldIdLst>
            <p14:sldId id="269"/>
            <p14:sldId id="270"/>
            <p14:sldId id="271"/>
            <p14:sldId id="272"/>
          </p14:sldIdLst>
        </p14:section>
        <p14:section name="Rilis &amp; dokumen" id="{452ac434-fdae-1c8b-e8f0-c6c47a4f72c3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E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6EEE7"/>
                </a:solidFill>
                <a:latin typeface="+mn-lt"/>
              </a:rPr>
              <a:t>Laporan ke IASC (kumulatif)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Laporan kumulatif</c:v>
                </c:pt>
              </c:strCache>
            </c:strRef>
          </c:tx>
          <c:spPr>
            <a:solidFill>
              <a:srgbClr val="5BC795"/>
            </a:solidFill>
            <a:ln w="31750" cap="flat">
              <a:solidFill>
                <a:srgbClr val="5BC79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6EEE7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BC795"/>
              </a:solidFill>
              <a:ln w="9525" cap="flat">
                <a:solidFill>
                  <a:srgbClr val="5BC79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14 Jan 26</c:v>
                  </c:pt>
                  <c:pt idx="1">
                    <c:v>31 Mei 26</c:v>
                  </c:pt>
                  <c:pt idx="2">
                    <c:v>31 Jul 26</c:v>
                  </c:pt>
                  <c:pt idx="3">
                    <c:v>30 Sep 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432637</c:v>
                </c:pt>
                <c:pt idx="1">
                  <c:v>579459</c:v>
                </c:pt>
                <c:pt idx="2">
                  <c:v>637055</c:v>
                </c:pt>
                <c:pt idx="3">
                  <c:v>702342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6EEE7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5A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83A3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5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EE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6EEE7"/>
                </a:solidFill>
                <a:latin typeface="+mn-lt"/>
              </a:rPr>
              <a:t>Dana korban (Rp miliar)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Dana diblokir</c:v>
                </c:pt>
              </c:strCache>
            </c:strRef>
          </c:tx>
          <c:spPr>
            <a:solidFill>
              <a:srgbClr val="E3AE55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EEE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31 Mei 26</c:v>
                  </c:pt>
                  <c:pt idx="1">
                    <c:v>31 Jul 26</c:v>
                  </c:pt>
                  <c:pt idx="2">
                    <c:v>30 Sep 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638.9</c:v>
                </c:pt>
                <c:pt idx="1">
                  <c:v>724.1</c:v>
                </c:pt>
                <c:pt idx="2">
                  <c:v>811.1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Dana dikembalikan</c:v>
                </c:pt>
              </c:strCache>
            </c:strRef>
          </c:tx>
          <c:spPr>
            <a:solidFill>
              <a:srgbClr val="5BC795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EEE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31 Mei 26</c:v>
                  </c:pt>
                  <c:pt idx="1">
                    <c:v>31 Jul 26</c:v>
                  </c:pt>
                  <c:pt idx="2">
                    <c:v>30 Sep 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169.3</c:v>
                </c:pt>
                <c:pt idx="1">
                  <c:v>204.3</c:v>
                </c:pt>
                <c:pt idx="2">
                  <c:v>207.16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E6EEE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5A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83A3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5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FB5A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Presentasi UTS kelompok: Finandex — gambaran platform &amp; tech stack. Anggota: DEA SAKA KURNIA PUTRA (261012000111), ROSSY ARTANTI ZULAIEKHA (261012000045), TAJUL TABRIZI (261012000093).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terbaru dari repo: kartu agen (src/config/agents.generated.json), reports/eval-mock.json, reports/vitest.json.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statistik IASC: konferensi pers OJK 5 Oktober 2026 (Kontan, Bisnis.com).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Kategori: Pasar Global &amp; Saham (5); Pasar &amp; Ekonomi Indonesia (4); Kripto &amp; Makro Global (3); Startup, VC &amp; Perusahaan (4); Biaya Hidup, Kerja &amp; Rumah Tangga (4); Sosial &amp; Pembangunan (4); Sentimen &amp; Keuangan Pribadi (2); Hukum &amp; Pelindungan Konsumen (3).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justifikasi &amp; jejak agen dibangkitkan dari event SSE milik tool dan agen, bukan dari proses berpikir internal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runtime-agnostik (Web Fetch API), di-bundle esbuild ke api/index.mjs. Desktop Tauri belum dirilis; macOS/Windows memakai PWA.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 dibaca dari package.json repo saat deck dibangun.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Tanpa ANTHROPIC_API_KEY server berjalan dalam mode data: agen menyusun jawaban langsung dari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Toleransi golden relatif 1e-6; tanggal, string, dan flag harus sama persis.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gate dijalankan oleh npm run verify sebelum rilis; SBOM oleh compliance.yml.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angka: src/config/agents.generated.json dan docs/agents/eval.json (npm run eval:agents, mode 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Pusat pemasangan memakai feature detection &amp; User-Agent Client Hints, tanpa fingerprinting.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Hijau neon #19F23A hanya dipakai di logo personal &amp; ikon aplikasi. Gate npm run ui:audit menolak warna literal di luar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Keduanya Dex terpisah dengan dataset, menu, logo, dan riwayat sendiri; juga tersedia sebagai PWA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hanya memakai titik bertanggal pasti dari siaran pers/berita lengkap; titik yang hanya berasal dari judul berita tidak digambar di sini.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Kebijakan privasi mengacu UU No. 27 Tahun 2022 tentang Pelindungan Data Pribadi.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angka: docs/compliance/sbom/SBOM_SUMMARY.json &amp; SBOM_CHECK.json (npm run sbom:generate &amp;&amp; npm run sbom:verify).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branch = release. Netlify sebagai cadangan (saat ini terblokir kredit akun).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Whitepaper dibangun ulang dengan kit/whitepaper/build_whitepaper.py; setiap file punya SHA-256 di whitepaper_manifest.json.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ADD_NEW_DEX_PROMPT.md untuk fitur baru; UPDATE_V3_PROMPT.md untuk repo yang sudah dibangun dari 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X_TITLE">
    <p:bg>
      <p:bgPr>
        <a:solidFill>
          <a:srgbClr val="0F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9FB5A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X_UTS">
    <p:bg>
      <p:bgPr>
        <a:solidFill>
          <a:srgbClr val="0F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676656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240280"/>
            <a:ext cx="6766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E6EEE7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X_CONTENT">
    <p:bg>
      <p:bgPr>
        <a:solidFill>
          <a:srgbClr val="0F1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5A6"/>
                </a:solidFill>
              </a:rPr>
              <a:t>© 2026 Dea Saka Kurnia Putra. Hak cipta dilindungi undang-undang.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slideLayout" Target="../slideLayouts/slideLayout4.xml"/><Relationship Id="rId3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ts-label"/>
          <p:cNvSpPr txBox="1"/>
          <p:nvPr/>
        </p:nvSpPr>
        <p:spPr>
          <a:xfrm>
            <a:off x="731520" y="5486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BC795"/>
                </a:solidFill>
              </a:rPr>
              <a:t>UJIAN TENGAH SEMESTER (UTS)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1887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Finandex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2240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6EEE7"/>
                </a:solidFill>
              </a:rPr>
              <a:t>Gambaran Platform &amp; Tech Stack</a:t>
            </a:r>
            <a:endParaRPr lang="en-US" sz="2000" dirty="0"/>
          </a:p>
        </p:txBody>
      </p:sp>
      <p:sp>
        <p:nvSpPr>
          <p:cNvPr id="5" name="uts-members-title"/>
          <p:cNvSpPr txBox="1"/>
          <p:nvPr/>
        </p:nvSpPr>
        <p:spPr>
          <a:xfrm>
            <a:off x="731520" y="3063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EEE7"/>
                </a:solidFill>
              </a:rPr>
              <a:t>Anggota Kelompok</a:t>
            </a:r>
            <a:endParaRPr lang="en-US" sz="1400" dirty="0"/>
          </a:p>
        </p:txBody>
      </p:sp>
      <p:graphicFrame>
        <p:nvGraphicFramePr>
          <p:cNvPr id="2" name="uts-memb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7472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FB5A6"/>
                          </a:solidFill>
                        </a:rPr>
                        <a:t>NIM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FB5A6"/>
                          </a:solidFill>
                        </a:rPr>
                        <a:t>NAMA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261012000111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E7"/>
                          </a:solidFill>
                        </a:rPr>
                        <a:t>DEA SAKA KURNIA PUTRA</a:t>
                      </a:r>
                      <a:endParaRPr lang="en-US" sz="16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261012000045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E7"/>
                          </a:solidFill>
                        </a:rPr>
                        <a:t>ROSSY ARTANTI ZULAIEKHA</a:t>
                      </a:r>
                      <a:endParaRPr lang="en-US" sz="16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E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261012000093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EE7"/>
                          </a:solidFill>
                        </a:rPr>
                        <a:t>TAJUL TABRIZI</a:t>
                      </a:r>
                      <a:endParaRPr lang="en-US" sz="16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8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app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685800"/>
            <a:ext cx="914400" cy="914400"/>
          </a:xfrm>
          <a:prstGeom prst="rect">
            <a:avLst/>
          </a:prstGeom>
        </p:spPr>
      </p:pic>
      <p:sp>
        <p:nvSpPr>
          <p:cNvPr id="8" name="motif-line"/>
          <p:cNvSpPr/>
          <p:nvPr/>
        </p:nvSpPr>
        <p:spPr>
          <a:xfrm flipV="1">
            <a:off x="9887058" y="3611880"/>
            <a:ext cx="212490" cy="216785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9" name="motif-line"/>
          <p:cNvSpPr/>
          <p:nvPr/>
        </p:nvSpPr>
        <p:spPr>
          <a:xfrm flipV="1">
            <a:off x="9718717" y="3611880"/>
            <a:ext cx="380831" cy="22762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0" name="motif-line"/>
          <p:cNvSpPr/>
          <p:nvPr/>
        </p:nvSpPr>
        <p:spPr>
          <a:xfrm flipV="1">
            <a:off x="10099548" y="3293864"/>
            <a:ext cx="140580" cy="318016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1" name="motif-line"/>
          <p:cNvSpPr/>
          <p:nvPr/>
        </p:nvSpPr>
        <p:spPr>
          <a:xfrm flipV="1">
            <a:off x="10099548" y="2101903"/>
            <a:ext cx="383154" cy="1509977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2" name="motif-line"/>
          <p:cNvSpPr/>
          <p:nvPr/>
        </p:nvSpPr>
        <p:spPr>
          <a:xfrm flipV="1">
            <a:off x="10099548" y="2392173"/>
            <a:ext cx="434947" cy="1219707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3" name="motif-line"/>
          <p:cNvSpPr/>
          <p:nvPr/>
        </p:nvSpPr>
        <p:spPr>
          <a:xfrm>
            <a:off x="8766518" y="2007368"/>
            <a:ext cx="1333030" cy="1604512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4" name="motif-line"/>
          <p:cNvSpPr/>
          <p:nvPr/>
        </p:nvSpPr>
        <p:spPr>
          <a:xfrm>
            <a:off x="8568826" y="3412980"/>
            <a:ext cx="1530722" cy="198900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5" name="motif-line"/>
          <p:cNvSpPr/>
          <p:nvPr/>
        </p:nvSpPr>
        <p:spPr>
          <a:xfrm flipV="1">
            <a:off x="9633232" y="3611880"/>
            <a:ext cx="466316" cy="179424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6" name="motif-line"/>
          <p:cNvSpPr/>
          <p:nvPr/>
        </p:nvSpPr>
        <p:spPr>
          <a:xfrm flipV="1">
            <a:off x="8745789" y="3611880"/>
            <a:ext cx="1353759" cy="1731792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7" name="motif-line"/>
          <p:cNvSpPr/>
          <p:nvPr/>
        </p:nvSpPr>
        <p:spPr>
          <a:xfrm>
            <a:off x="10089031" y="3007018"/>
            <a:ext cx="10517" cy="604862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8" name="motif-node"/>
          <p:cNvSpPr/>
          <p:nvPr/>
        </p:nvSpPr>
        <p:spPr>
          <a:xfrm>
            <a:off x="9845910" y="3787517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19" name="motif-node"/>
          <p:cNvSpPr/>
          <p:nvPr/>
        </p:nvSpPr>
        <p:spPr>
          <a:xfrm>
            <a:off x="8508814" y="2657714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0" name="motif-node"/>
          <p:cNvSpPr/>
          <p:nvPr/>
        </p:nvSpPr>
        <p:spPr>
          <a:xfrm>
            <a:off x="9677569" y="3593494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1" name="motif-node"/>
          <p:cNvSpPr/>
          <p:nvPr/>
        </p:nvSpPr>
        <p:spPr>
          <a:xfrm>
            <a:off x="8377162" y="4921846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2" name="motif-node"/>
          <p:cNvSpPr/>
          <p:nvPr/>
        </p:nvSpPr>
        <p:spPr>
          <a:xfrm>
            <a:off x="10198980" y="3252716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3" name="motif-node"/>
          <p:cNvSpPr/>
          <p:nvPr/>
        </p:nvSpPr>
        <p:spPr>
          <a:xfrm>
            <a:off x="9111368" y="4573730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4" name="motif-node"/>
          <p:cNvSpPr/>
          <p:nvPr/>
        </p:nvSpPr>
        <p:spPr>
          <a:xfrm>
            <a:off x="10441554" y="2060755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5" name="motif-node"/>
          <p:cNvSpPr/>
          <p:nvPr/>
        </p:nvSpPr>
        <p:spPr>
          <a:xfrm>
            <a:off x="9874925" y="2625978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6" name="motif-node"/>
          <p:cNvSpPr/>
          <p:nvPr/>
        </p:nvSpPr>
        <p:spPr>
          <a:xfrm>
            <a:off x="10493347" y="2351025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7" name="motif-node"/>
          <p:cNvSpPr/>
          <p:nvPr/>
        </p:nvSpPr>
        <p:spPr>
          <a:xfrm>
            <a:off x="10095486" y="3525284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8" name="motif-node"/>
          <p:cNvSpPr/>
          <p:nvPr/>
        </p:nvSpPr>
        <p:spPr>
          <a:xfrm>
            <a:off x="8725370" y="1966220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9" name="motif-node"/>
          <p:cNvSpPr/>
          <p:nvPr/>
        </p:nvSpPr>
        <p:spPr>
          <a:xfrm>
            <a:off x="11446066" y="5246421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0" name="motif-node"/>
          <p:cNvSpPr/>
          <p:nvPr/>
        </p:nvSpPr>
        <p:spPr>
          <a:xfrm>
            <a:off x="8527678" y="3371832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1" name="motif-node"/>
          <p:cNvSpPr/>
          <p:nvPr/>
        </p:nvSpPr>
        <p:spPr>
          <a:xfrm>
            <a:off x="11505196" y="2462162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2" name="motif-node"/>
          <p:cNvSpPr/>
          <p:nvPr/>
        </p:nvSpPr>
        <p:spPr>
          <a:xfrm>
            <a:off x="9592084" y="3750156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3" name="motif-node"/>
          <p:cNvSpPr/>
          <p:nvPr/>
        </p:nvSpPr>
        <p:spPr>
          <a:xfrm>
            <a:off x="10493010" y="2789121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4" name="motif-node"/>
          <p:cNvSpPr/>
          <p:nvPr/>
        </p:nvSpPr>
        <p:spPr>
          <a:xfrm>
            <a:off x="8704641" y="5302524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5" name="motif-node"/>
          <p:cNvSpPr/>
          <p:nvPr/>
        </p:nvSpPr>
        <p:spPr>
          <a:xfrm>
            <a:off x="9686283" y="2617111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6" name="motif-node"/>
          <p:cNvSpPr/>
          <p:nvPr/>
        </p:nvSpPr>
        <p:spPr>
          <a:xfrm>
            <a:off x="10047883" y="2965870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7" name="motif-node"/>
          <p:cNvSpPr/>
          <p:nvPr/>
        </p:nvSpPr>
        <p:spPr>
          <a:xfrm>
            <a:off x="8644747" y="4543706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8" name="motif-core"/>
          <p:cNvSpPr/>
          <p:nvPr/>
        </p:nvSpPr>
        <p:spPr>
          <a:xfrm>
            <a:off x="9980676" y="3493008"/>
            <a:ext cx="237744" cy="237744"/>
          </a:xfrm>
          <a:prstGeom prst="ellipse">
            <a:avLst/>
          </a:prstGeom>
          <a:solidFill>
            <a:srgbClr val="0F1F19"/>
          </a:solidFill>
          <a:ln w="25400">
            <a:solidFill>
              <a:srgbClr val="5BC795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583680" y="6355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5A6"/>
                </a:solidFill>
              </a:rPr>
              <a:t>© 2026 Dea Saka Kurnia Putra. Hak cipta dilindungi undang-undang.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aplikasi, 29 chatbot dengan datanya sendiri</a:t>
            </a:r>
            <a:endParaRPr lang="en-US" sz="3400" dirty="0"/>
          </a:p>
        </p:txBody>
      </p:sp>
      <p:sp>
        <p:nvSpPr>
          <p:cNvPr id="3" name="stat-0"/>
          <p:cNvSpPr/>
          <p:nvPr/>
        </p:nvSpPr>
        <p:spPr>
          <a:xfrm>
            <a:off x="548640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chatbot Dex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masing-masing dengan menu, fitur, logo, dan dataset sendiri</a:t>
            </a:r>
            <a:endParaRPr lang="en-US" sz="1400" dirty="0"/>
          </a:p>
        </p:txBody>
      </p:sp>
      <p:sp>
        <p:nvSpPr>
          <p:cNvPr id="7" name="stat-1"/>
          <p:cNvSpPr/>
          <p:nvPr/>
        </p:nvSpPr>
        <p:spPr>
          <a:xfrm>
            <a:off x="3364992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9312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79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agen AI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1 Konduktor, 29 agen Dex, Verifikator, Penjaga · 178 keahlian</a:t>
            </a:r>
            <a:endParaRPr lang="en-US" sz="1400" dirty="0"/>
          </a:p>
        </p:txBody>
      </p:sp>
      <p:sp>
        <p:nvSpPr>
          <p:cNvPr id="11" name="stat-2"/>
          <p:cNvSpPr/>
          <p:nvPr/>
        </p:nvSpPr>
        <p:spPr>
          <a:xfrm>
            <a:off x="6181344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55664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3A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dataset unggahan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+ 4 dataset kit: anti-scam, katalog regulasi, alur konsultasi, panduan fitur</a:t>
            </a:r>
            <a:endParaRPr lang="en-US" sz="1400" dirty="0"/>
          </a:p>
        </p:txBody>
      </p:sp>
      <p:sp>
        <p:nvSpPr>
          <p:cNvPr id="15" name="stat-3"/>
          <p:cNvSpPr/>
          <p:nvPr/>
        </p:nvSpPr>
        <p:spPr>
          <a:xfrm>
            <a:off x="8997696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72016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E8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pertanyaan evaluasi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mock 161/161 lulus, item keamanan 100%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C795"/>
                </a:solidFill>
              </a:rPr>
              <a:t>Angka hanya dari data. </a:t>
            </a:r>
            <a:pPr indent="0" marL="0">
              <a:buNone/>
            </a:pPr>
            <a:r>
              <a:rPr lang="en-US" sz="1600" dirty="0">
                <a:solidFill>
                  <a:srgbClr val="E6EEE7"/>
                </a:solidFill>
              </a:rPr>
              <a:t>Setiap angka berasal dari tool deterministik, diuji terhadap golden fixtures, dan diperiksa Agen Verifikator sebelum tampil. 909/909 tes otomatis lulus; produksi: finandex.vercel.app.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yang diselesaikan</a:t>
            </a:r>
            <a:endParaRPr lang="en-US" sz="3400" dirty="0"/>
          </a:p>
        </p:txBody>
      </p:sp>
      <p:sp>
        <p:nvSpPr>
          <p:cNvPr id="3" name="p-ic-bg-0"/>
          <p:cNvSpPr/>
          <p:nvPr/>
        </p:nvSpPr>
        <p:spPr>
          <a:xfrm>
            <a:off x="548640" y="1371600"/>
            <a:ext cx="822960" cy="822960"/>
          </a:xfrm>
          <a:prstGeom prst="ellipse">
            <a:avLst/>
          </a:prstGeom>
          <a:solidFill>
            <a:srgbClr val="1C362D"/>
          </a:solidFill>
          <a:ln w="9525">
            <a:solidFill>
              <a:srgbClr val="283A31"/>
            </a:solidFill>
            <a:prstDash val="solid"/>
          </a:ln>
        </p:spPr>
      </p:sp>
      <p:pic>
        <p:nvPicPr>
          <p:cNvPr id="4" name="p-i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89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Data keuangan tersebar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77393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Harga, fundamental, makro, kripto, dan data sosial ekonomi ada di format berbeda dengan kualitas tidak seragam.</a:t>
            </a:r>
            <a:endParaRPr lang="en-US" sz="1400" dirty="0"/>
          </a:p>
        </p:txBody>
      </p:sp>
      <p:sp>
        <p:nvSpPr>
          <p:cNvPr id="7" name="p-ic-bg-1"/>
          <p:cNvSpPr/>
          <p:nvPr/>
        </p:nvSpPr>
        <p:spPr>
          <a:xfrm>
            <a:off x="548640" y="2560320"/>
            <a:ext cx="822960" cy="822960"/>
          </a:xfrm>
          <a:prstGeom prst="ellipse">
            <a:avLst/>
          </a:prstGeom>
          <a:solidFill>
            <a:srgbClr val="1C362D"/>
          </a:solidFill>
          <a:ln w="9525">
            <a:solidFill>
              <a:srgbClr val="283A31"/>
            </a:solidFill>
            <a:prstDash val="solid"/>
          </a:ln>
        </p:spPr>
      </p:sp>
      <p:pic>
        <p:nvPicPr>
          <p:cNvPr id="8" name="p-i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5786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Jawaban AI sulit diverifikasi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296265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Chatbot umum menyebut angka tanpa sumber, tanggal data, atau cara menghitung.</a:t>
            </a:r>
            <a:endParaRPr lang="en-US" sz="1400" dirty="0"/>
          </a:p>
        </p:txBody>
      </p:sp>
      <p:sp>
        <p:nvSpPr>
          <p:cNvPr id="11" name="p-ic-bg-2"/>
          <p:cNvSpPr/>
          <p:nvPr/>
        </p:nvSpPr>
        <p:spPr>
          <a:xfrm>
            <a:off x="548640" y="3749040"/>
            <a:ext cx="822960" cy="822960"/>
          </a:xfrm>
          <a:prstGeom prst="ellipse">
            <a:avLst/>
          </a:prstGeom>
          <a:solidFill>
            <a:srgbClr val="1C362D"/>
          </a:solidFill>
          <a:ln w="9525">
            <a:solidFill>
              <a:srgbClr val="283A31"/>
            </a:solidFill>
            <a:prstDash val="solid"/>
          </a:ln>
        </p:spPr>
      </p:sp>
      <p:pic>
        <p:nvPicPr>
          <p:cNvPr id="12" name="p-i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37673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Scam keuangan meningkat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15137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IASC menerima 702.342 laporan sejak 22 November 2024 hingga 30 September 2026; dana diblokir Rp811,1 M.</a:t>
            </a:r>
            <a:endParaRPr lang="en-US" sz="1400" dirty="0"/>
          </a:p>
        </p:txBody>
      </p:sp>
      <p:sp>
        <p:nvSpPr>
          <p:cNvPr id="15" name="p-ic-bg-3"/>
          <p:cNvSpPr/>
          <p:nvPr/>
        </p:nvSpPr>
        <p:spPr>
          <a:xfrm>
            <a:off x="548640" y="4937760"/>
            <a:ext cx="822960" cy="822960"/>
          </a:xfrm>
          <a:prstGeom prst="ellipse">
            <a:avLst/>
          </a:prstGeom>
          <a:solidFill>
            <a:srgbClr val="1C362D"/>
          </a:solidFill>
          <a:ln w="9525">
            <a:solidFill>
              <a:srgbClr val="283A31"/>
            </a:solidFill>
            <a:prstDash val="solid"/>
          </a:ln>
        </p:spPr>
      </p:sp>
      <p:pic>
        <p:nvPicPr>
          <p:cNvPr id="16" name="p-i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206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45920" y="49560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Literasi hukum terbatas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645920" y="534009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Korban tidak tahu urutan langkah (bank, IASC, Laporan Polisi) dan dasar hukumnya setelah KUHP &amp; KUHAP baru berlaku 2 Januari 2026.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Dex dalam 8 kategori</a:t>
            </a:r>
            <a:endParaRPr lang="en-US" sz="3400" dirty="0"/>
          </a:p>
        </p:txBody>
      </p:sp>
      <p:sp>
        <p:nvSpPr>
          <p:cNvPr id="3" name="grp-global-markets"/>
          <p:cNvSpPr/>
          <p:nvPr/>
        </p:nvSpPr>
        <p:spPr>
          <a:xfrm>
            <a:off x="548640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C795"/>
                </a:solidFill>
              </a:rPr>
              <a:t>Pasar Global &amp; Saham</a:t>
            </a:r>
            <a:endParaRPr lang="en-US" sz="1400" dirty="0"/>
          </a:p>
        </p:txBody>
      </p:sp>
      <p:pic>
        <p:nvPicPr>
          <p:cNvPr id="5" name="ic-finandex-a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3120"/>
            <a:ext cx="384048" cy="384048"/>
          </a:xfrm>
          <a:prstGeom prst="rect">
            <a:avLst/>
          </a:prstGeom>
        </p:spPr>
      </p:pic>
      <p:pic>
        <p:nvPicPr>
          <p:cNvPr id="6" name="ic-nasdaqdex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103120"/>
            <a:ext cx="384048" cy="384048"/>
          </a:xfrm>
          <a:prstGeom prst="rect">
            <a:avLst/>
          </a:prstGeom>
        </p:spPr>
      </p:pic>
      <p:pic>
        <p:nvPicPr>
          <p:cNvPr id="7" name="ic-snp500de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103120"/>
            <a:ext cx="384048" cy="384048"/>
          </a:xfrm>
          <a:prstGeom prst="rect">
            <a:avLst/>
          </a:prstGeom>
        </p:spPr>
      </p:pic>
      <p:pic>
        <p:nvPicPr>
          <p:cNvPr id="8" name="ic-commercedex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2103120"/>
            <a:ext cx="384048" cy="384048"/>
          </a:xfrm>
          <a:prstGeom prst="rect">
            <a:avLst/>
          </a:prstGeom>
        </p:spPr>
      </p:pic>
      <p:pic>
        <p:nvPicPr>
          <p:cNvPr id="9" name="ic-ipodex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608" y="2103120"/>
            <a:ext cx="384048" cy="38404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749808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5A6"/>
                </a:solidFill>
              </a:rPr>
              <a:t>Finandex AI, NASDAQDex, SnP500Dex, CommerceDex, IPODex</a:t>
            </a:r>
            <a:endParaRPr lang="en-US" sz="1100" dirty="0"/>
          </a:p>
        </p:txBody>
      </p:sp>
      <p:sp>
        <p:nvSpPr>
          <p:cNvPr id="11" name="grp-indonesia-markets"/>
          <p:cNvSpPr/>
          <p:nvPr/>
        </p:nvSpPr>
        <p:spPr>
          <a:xfrm>
            <a:off x="3364992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3566160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C795"/>
                </a:solidFill>
              </a:rPr>
              <a:t>Pasar &amp; Ekonomi Indonesia</a:t>
            </a:r>
            <a:endParaRPr lang="en-US" sz="1400" dirty="0"/>
          </a:p>
        </p:txBody>
      </p:sp>
      <p:pic>
        <p:nvPicPr>
          <p:cNvPr id="13" name="ic-idfinandex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103120"/>
            <a:ext cx="384048" cy="384048"/>
          </a:xfrm>
          <a:prstGeom prst="rect">
            <a:avLst/>
          </a:prstGeom>
        </p:spPr>
      </p:pic>
      <p:pic>
        <p:nvPicPr>
          <p:cNvPr id="14" name="ic-rupiahdex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2103120"/>
            <a:ext cx="384048" cy="384048"/>
          </a:xfrm>
          <a:prstGeom prst="rect">
            <a:avLst/>
          </a:prstGeom>
        </p:spPr>
      </p:pic>
      <p:pic>
        <p:nvPicPr>
          <p:cNvPr id="15" name="ic-idxdex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2103120"/>
            <a:ext cx="384048" cy="384048"/>
          </a:xfrm>
          <a:prstGeom prst="rect">
            <a:avLst/>
          </a:prstGeom>
        </p:spPr>
      </p:pic>
      <p:pic>
        <p:nvPicPr>
          <p:cNvPr id="16" name="ic-reksadex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103120"/>
            <a:ext cx="384048" cy="384048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3566160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5A6"/>
                </a:solidFill>
              </a:rPr>
              <a:t>IDFinanDex, RupiahDex, IDXDex, ReksaDex</a:t>
            </a:r>
            <a:endParaRPr lang="en-US" sz="1100" dirty="0"/>
          </a:p>
        </p:txBody>
      </p:sp>
      <p:sp>
        <p:nvSpPr>
          <p:cNvPr id="18" name="grp-crypto-macro"/>
          <p:cNvSpPr/>
          <p:nvPr/>
        </p:nvSpPr>
        <p:spPr>
          <a:xfrm>
            <a:off x="6181344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9" name="Text 8"/>
          <p:cNvSpPr txBox="1"/>
          <p:nvPr/>
        </p:nvSpPr>
        <p:spPr>
          <a:xfrm>
            <a:off x="6382512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C795"/>
                </a:solidFill>
              </a:rPr>
              <a:t>Kripto &amp; Makro Global</a:t>
            </a:r>
            <a:endParaRPr lang="en-US" sz="1400" dirty="0"/>
          </a:p>
        </p:txBody>
      </p:sp>
      <p:pic>
        <p:nvPicPr>
          <p:cNvPr id="20" name="ic-cryptdex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512" y="2103120"/>
            <a:ext cx="384048" cy="384048"/>
          </a:xfrm>
          <a:prstGeom prst="rect">
            <a:avLst/>
          </a:prstGeom>
        </p:spPr>
      </p:pic>
      <p:pic>
        <p:nvPicPr>
          <p:cNvPr id="21" name="ic-centralbankdex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9712" y="2103120"/>
            <a:ext cx="384048" cy="384048"/>
          </a:xfrm>
          <a:prstGeom prst="rect">
            <a:avLst/>
          </a:prstGeom>
        </p:spPr>
      </p:pic>
      <p:pic>
        <p:nvPicPr>
          <p:cNvPr id="22" name="ic-inflationdex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6912" y="2103120"/>
            <a:ext cx="384048" cy="384048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6382512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5A6"/>
                </a:solidFill>
              </a:rPr>
              <a:t>CryptDex, CentralBankDex, InflationDex</a:t>
            </a:r>
            <a:endParaRPr lang="en-US" sz="1100" dirty="0"/>
          </a:p>
        </p:txBody>
      </p:sp>
      <p:sp>
        <p:nvSpPr>
          <p:cNvPr id="24" name="grp-startup-business"/>
          <p:cNvSpPr/>
          <p:nvPr/>
        </p:nvSpPr>
        <p:spPr>
          <a:xfrm>
            <a:off x="8997696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25" name="Text 11"/>
          <p:cNvSpPr txBox="1"/>
          <p:nvPr/>
        </p:nvSpPr>
        <p:spPr>
          <a:xfrm>
            <a:off x="9198864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C795"/>
                </a:solidFill>
              </a:rPr>
              <a:t>Startup, VC &amp; Perusahaan</a:t>
            </a:r>
            <a:endParaRPr lang="en-US" sz="1400" dirty="0"/>
          </a:p>
        </p:txBody>
      </p:sp>
      <p:pic>
        <p:nvPicPr>
          <p:cNvPr id="26" name="ic-startupdex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8864" y="2103120"/>
            <a:ext cx="384048" cy="384048"/>
          </a:xfrm>
          <a:prstGeom prst="rect">
            <a:avLst/>
          </a:prstGeom>
        </p:spPr>
      </p:pic>
      <p:pic>
        <p:nvPicPr>
          <p:cNvPr id="27" name="ic-vcdex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6064" y="2103120"/>
            <a:ext cx="384048" cy="384048"/>
          </a:xfrm>
          <a:prstGeom prst="rect">
            <a:avLst/>
          </a:prstGeom>
        </p:spPr>
      </p:pic>
      <p:pic>
        <p:nvPicPr>
          <p:cNvPr id="28" name="ic-vcnetworkdex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3264" y="2103120"/>
            <a:ext cx="384048" cy="384048"/>
          </a:xfrm>
          <a:prstGeom prst="rect">
            <a:avLst/>
          </a:prstGeom>
        </p:spPr>
      </p:pic>
      <p:pic>
        <p:nvPicPr>
          <p:cNvPr id="29" name="ic-opencompanydex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0464" y="2103120"/>
            <a:ext cx="384048" cy="384048"/>
          </a:xfrm>
          <a:prstGeom prst="rect">
            <a:avLst/>
          </a:prstGeom>
        </p:spPr>
      </p:pic>
      <p:sp>
        <p:nvSpPr>
          <p:cNvPr id="30" name="Text 12"/>
          <p:cNvSpPr txBox="1"/>
          <p:nvPr/>
        </p:nvSpPr>
        <p:spPr>
          <a:xfrm>
            <a:off x="9198864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5A6"/>
                </a:solidFill>
              </a:rPr>
              <a:t>StartupDex, VCDex, VCNetworkDex, OpenCompanyDex</a:t>
            </a:r>
            <a:endParaRPr lang="en-US" sz="1100" dirty="0"/>
          </a:p>
        </p:txBody>
      </p:sp>
      <p:sp>
        <p:nvSpPr>
          <p:cNvPr id="31" name="grp-living-work"/>
          <p:cNvSpPr/>
          <p:nvPr/>
        </p:nvSpPr>
        <p:spPr>
          <a:xfrm>
            <a:off x="548640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32" name="Text 14"/>
          <p:cNvSpPr txBox="1"/>
          <p:nvPr/>
        </p:nvSpPr>
        <p:spPr>
          <a:xfrm>
            <a:off x="749808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C795"/>
                </a:solidFill>
              </a:rPr>
              <a:t>Biaya Hidup, Kerja &amp; Rumah Tangga</a:t>
            </a:r>
            <a:endParaRPr lang="en-US" sz="1400" dirty="0"/>
          </a:p>
        </p:txBody>
      </p:sp>
      <p:pic>
        <p:nvPicPr>
          <p:cNvPr id="33" name="ic-salarydex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808" y="4617720"/>
            <a:ext cx="384048" cy="384048"/>
          </a:xfrm>
          <a:prstGeom prst="rect">
            <a:avLst/>
          </a:prstGeom>
        </p:spPr>
      </p:pic>
      <p:pic>
        <p:nvPicPr>
          <p:cNvPr id="34" name="ic-costlivingdex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07008" y="4617720"/>
            <a:ext cx="384048" cy="384048"/>
          </a:xfrm>
          <a:prstGeom prst="rect">
            <a:avLst/>
          </a:prstGeom>
        </p:spPr>
      </p:pic>
      <p:pic>
        <p:nvPicPr>
          <p:cNvPr id="35" name="ic-idhousingdex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64208" y="4617720"/>
            <a:ext cx="384048" cy="384048"/>
          </a:xfrm>
          <a:prstGeom prst="rect">
            <a:avLst/>
          </a:prstGeom>
        </p:spPr>
      </p:pic>
      <p:pic>
        <p:nvPicPr>
          <p:cNvPr id="36" name="ic-idfooddeliverydex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21408" y="4617720"/>
            <a:ext cx="384048" cy="384048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749808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5A6"/>
                </a:solidFill>
              </a:rPr>
              <a:t>SalaryDex, CostLivingDex, IDHousingDex, IDFoodDeliveryDex</a:t>
            </a:r>
            <a:endParaRPr lang="en-US" sz="1100" dirty="0"/>
          </a:p>
        </p:txBody>
      </p:sp>
      <p:sp>
        <p:nvSpPr>
          <p:cNvPr id="38" name="grp-social-development"/>
          <p:cNvSpPr/>
          <p:nvPr/>
        </p:nvSpPr>
        <p:spPr>
          <a:xfrm>
            <a:off x="3364992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39" name="Text 17"/>
          <p:cNvSpPr txBox="1"/>
          <p:nvPr/>
        </p:nvSpPr>
        <p:spPr>
          <a:xfrm>
            <a:off x="3566160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C795"/>
                </a:solidFill>
              </a:rPr>
              <a:t>Sosial &amp; Pembangunan</a:t>
            </a:r>
            <a:endParaRPr lang="en-US" sz="1400" dirty="0"/>
          </a:p>
        </p:txBody>
      </p:sp>
      <p:pic>
        <p:nvPicPr>
          <p:cNvPr id="40" name="ic-povertydex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66160" y="4617720"/>
            <a:ext cx="384048" cy="384048"/>
          </a:xfrm>
          <a:prstGeom prst="rect">
            <a:avLst/>
          </a:prstGeom>
        </p:spPr>
      </p:pic>
      <p:pic>
        <p:nvPicPr>
          <p:cNvPr id="41" name="ic-populationdex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23360" y="4617720"/>
            <a:ext cx="384048" cy="384048"/>
          </a:xfrm>
          <a:prstGeom prst="rect">
            <a:avLst/>
          </a:prstGeom>
        </p:spPr>
      </p:pic>
      <p:pic>
        <p:nvPicPr>
          <p:cNvPr id="42" name="ic-homelessnessdex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80560" y="4617720"/>
            <a:ext cx="384048" cy="384048"/>
          </a:xfrm>
          <a:prstGeom prst="rect">
            <a:avLst/>
          </a:prstGeom>
        </p:spPr>
      </p:pic>
      <p:pic>
        <p:nvPicPr>
          <p:cNvPr id="43" name="ic-housingdex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760" y="4617720"/>
            <a:ext cx="384048" cy="384048"/>
          </a:xfrm>
          <a:prstGeom prst="rect">
            <a:avLst/>
          </a:prstGeom>
        </p:spPr>
      </p:pic>
      <p:sp>
        <p:nvSpPr>
          <p:cNvPr id="44" name="Text 18"/>
          <p:cNvSpPr txBox="1"/>
          <p:nvPr/>
        </p:nvSpPr>
        <p:spPr>
          <a:xfrm>
            <a:off x="3566160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5A6"/>
                </a:solidFill>
              </a:rPr>
              <a:t>PovertyDex, PopulationDex, HomelessnessDex, HousingDex</a:t>
            </a:r>
            <a:endParaRPr lang="en-US" sz="1100" dirty="0"/>
          </a:p>
        </p:txBody>
      </p:sp>
      <p:sp>
        <p:nvSpPr>
          <p:cNvPr id="45" name="grp-sentiment-personal"/>
          <p:cNvSpPr/>
          <p:nvPr/>
        </p:nvSpPr>
        <p:spPr>
          <a:xfrm>
            <a:off x="6181344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46" name="Text 20"/>
          <p:cNvSpPr txBox="1"/>
          <p:nvPr/>
        </p:nvSpPr>
        <p:spPr>
          <a:xfrm>
            <a:off x="6382512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C795"/>
                </a:solidFill>
              </a:rPr>
              <a:t>Sentimen &amp; Keuangan Pribadi</a:t>
            </a:r>
            <a:endParaRPr lang="en-US" sz="1400" dirty="0"/>
          </a:p>
        </p:txBody>
      </p:sp>
      <p:pic>
        <p:nvPicPr>
          <p:cNvPr id="47" name="ic-fintechdex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82512" y="4617720"/>
            <a:ext cx="384048" cy="384048"/>
          </a:xfrm>
          <a:prstGeom prst="rect">
            <a:avLst/>
          </a:prstGeom>
        </p:spPr>
      </p:pic>
      <p:pic>
        <p:nvPicPr>
          <p:cNvPr id="48" name="ic-personalfinandex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39712" y="4617720"/>
            <a:ext cx="384048" cy="384048"/>
          </a:xfrm>
          <a:prstGeom prst="rect">
            <a:avLst/>
          </a:prstGeom>
        </p:spPr>
      </p:pic>
      <p:sp>
        <p:nvSpPr>
          <p:cNvPr id="49" name="Text 21"/>
          <p:cNvSpPr txBox="1"/>
          <p:nvPr/>
        </p:nvSpPr>
        <p:spPr>
          <a:xfrm>
            <a:off x="6382512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5A6"/>
                </a:solidFill>
              </a:rPr>
              <a:t>FintechDex, PersonalFinanDex</a:t>
            </a:r>
            <a:endParaRPr lang="en-US" sz="1100" dirty="0"/>
          </a:p>
        </p:txBody>
      </p:sp>
      <p:sp>
        <p:nvSpPr>
          <p:cNvPr id="50" name="grp-law"/>
          <p:cNvSpPr/>
          <p:nvPr/>
        </p:nvSpPr>
        <p:spPr>
          <a:xfrm>
            <a:off x="8997696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51" name="Text 23"/>
          <p:cNvSpPr txBox="1"/>
          <p:nvPr/>
        </p:nvSpPr>
        <p:spPr>
          <a:xfrm>
            <a:off x="9198864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C795"/>
                </a:solidFill>
              </a:rPr>
              <a:t>Hukum &amp; Pelindungan Konsumen</a:t>
            </a:r>
            <a:endParaRPr lang="en-US" sz="1400" dirty="0"/>
          </a:p>
        </p:txBody>
      </p:sp>
      <p:pic>
        <p:nvPicPr>
          <p:cNvPr id="52" name="ic-mylaiwyer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98864" y="4617720"/>
            <a:ext cx="384048" cy="384048"/>
          </a:xfrm>
          <a:prstGeom prst="rect">
            <a:avLst/>
          </a:prstGeom>
        </p:spPr>
      </p:pic>
      <p:pic>
        <p:nvPicPr>
          <p:cNvPr id="53" name="ic-finlaiwyer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56064" y="4617720"/>
            <a:ext cx="384048" cy="384048"/>
          </a:xfrm>
          <a:prstGeom prst="rect">
            <a:avLst/>
          </a:prstGeom>
        </p:spPr>
      </p:pic>
      <p:pic>
        <p:nvPicPr>
          <p:cNvPr id="54" name="ic-antiscamdex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13264" y="4617720"/>
            <a:ext cx="384048" cy="384048"/>
          </a:xfrm>
          <a:prstGeom prst="rect">
            <a:avLst/>
          </a:prstGeom>
        </p:spPr>
      </p:pic>
      <p:sp>
        <p:nvSpPr>
          <p:cNvPr id="55" name="Text 24"/>
          <p:cNvSpPr txBox="1"/>
          <p:nvPr/>
        </p:nvSpPr>
        <p:spPr>
          <a:xfrm>
            <a:off x="9198864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5A6"/>
                </a:solidFill>
              </a:rPr>
              <a:t>My LAIwyer, FinLAIwyer, AntiScamDex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jawaban bisa diperiksa</a:t>
            </a:r>
            <a:endParaRPr lang="en-US" sz="3400" dirty="0"/>
          </a:p>
        </p:txBody>
      </p:sp>
      <p:sp>
        <p:nvSpPr>
          <p:cNvPr id="3" name="step-0"/>
          <p:cNvSpPr/>
          <p:nvPr/>
        </p:nvSpPr>
        <p:spPr>
          <a:xfrm>
            <a:off x="548640" y="137160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9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EE7"/>
                </a:solidFill>
              </a:rPr>
              <a:t>Jawaban inti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2–4 kalimat, angka utama + tanggal data</a:t>
            </a:r>
            <a:endParaRPr lang="en-US" sz="1400" dirty="0"/>
          </a:p>
        </p:txBody>
      </p:sp>
      <p:sp>
        <p:nvSpPr>
          <p:cNvPr id="7" name="step-1"/>
          <p:cNvSpPr/>
          <p:nvPr/>
        </p:nvSpPr>
        <p:spPr>
          <a:xfrm>
            <a:off x="4297680" y="137160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EE7"/>
                </a:solidFill>
              </a:rPr>
              <a:t>Grafik visual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1945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dipilih tool: garis, bar, heatmap, kutipan pasal</a:t>
            </a:r>
            <a:endParaRPr lang="en-US" sz="1400" dirty="0"/>
          </a:p>
        </p:txBody>
      </p:sp>
      <p:sp>
        <p:nvSpPr>
          <p:cNvPr id="11" name="step-2"/>
          <p:cNvSpPr/>
          <p:nvPr/>
        </p:nvSpPr>
        <p:spPr>
          <a:xfrm>
            <a:off x="8046720" y="137160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9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EE7"/>
                </a:solidFill>
              </a:rPr>
              <a:t>Jejak agen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21945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agen mana yang bekerja, tool, keahlian, durasi</a:t>
            </a:r>
            <a:endParaRPr lang="en-US" sz="1400" dirty="0"/>
          </a:p>
        </p:txBody>
      </p:sp>
      <p:sp>
        <p:nvSpPr>
          <p:cNvPr id="15" name="step-3"/>
          <p:cNvSpPr/>
          <p:nvPr/>
        </p:nvSpPr>
        <p:spPr>
          <a:xfrm>
            <a:off x="548640" y="347472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EE7"/>
                </a:solidFill>
              </a:rPr>
              <a:t>Kenapa jawabannya begini?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97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data, rumus, aturan pembersihan, tool dipanggil</a:t>
            </a:r>
            <a:endParaRPr lang="en-US" sz="1400" dirty="0"/>
          </a:p>
        </p:txBody>
      </p:sp>
      <p:sp>
        <p:nvSpPr>
          <p:cNvPr id="19" name="step-4"/>
          <p:cNvSpPr/>
          <p:nvPr/>
        </p:nvSpPr>
        <p:spPr>
          <a:xfrm>
            <a:off x="4297680" y="347472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3A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EE7"/>
                </a:solidFill>
              </a:rPr>
              <a:t>Diverifikasi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297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angka &amp; kutipan dicocokkan ke hasil tool; klaim tak terverifikasi dihapus</a:t>
            </a:r>
            <a:endParaRPr lang="en-US" sz="1400" dirty="0"/>
          </a:p>
        </p:txBody>
      </p:sp>
      <p:sp>
        <p:nvSpPr>
          <p:cNvPr id="23" name="step-5"/>
          <p:cNvSpPr/>
          <p:nvPr/>
        </p:nvSpPr>
        <p:spPr>
          <a:xfrm>
            <a:off x="8046720" y="347472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FB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EE7"/>
                </a:solidFill>
              </a:rPr>
              <a:t>Disclaimer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4297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bukan nasihat investasi atau hukum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Warna = asal-usul: </a:t>
            </a:r>
            <a:pPr indent="0" marL="0">
              <a:buNone/>
            </a:pPr>
            <a:r>
              <a:rPr lang="en-US" sz="1500" dirty="0">
                <a:solidFill>
                  <a:srgbClr val="5BC795"/>
                </a:solidFill>
              </a:rPr>
              <a:t>hijau tinta = data, </a:t>
            </a:r>
            <a:pPr indent="0" marL="0">
              <a:buNone/>
            </a:pPr>
            <a:r>
              <a:rPr lang="en-US" sz="1500" dirty="0">
                <a:solidFill>
                  <a:srgbClr val="79C6D2"/>
                </a:solidFill>
              </a:rPr>
              <a:t>biru petrol = narasi AI, </a:t>
            </a:r>
            <a:pPr indent="0" marL="0">
              <a:buNone/>
            </a:pPr>
            <a:r>
              <a:rPr lang="en-US" sz="1500" dirty="0">
                <a:solidFill>
                  <a:srgbClr val="E9DFC7"/>
                </a:solidFill>
              </a:rPr>
              <a:t>krem = teks resmi, </a:t>
            </a:r>
            <a:pPr indent="0" marL="0">
              <a:buNone/>
            </a:pPr>
            <a:r>
              <a:rPr lang="en-US" sz="1500" dirty="0">
                <a:solidFill>
                  <a:srgbClr val="E3AE55"/>
                </a:solidFill>
              </a:rPr>
              <a:t>oker = keterbatasan.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satu codebase</a:t>
            </a:r>
            <a:endParaRPr lang="en-US" sz="3400" dirty="0"/>
          </a:p>
        </p:txBody>
      </p:sp>
      <p:sp>
        <p:nvSpPr>
          <p:cNvPr id="3" name="client-0"/>
          <p:cNvSpPr/>
          <p:nvPr/>
        </p:nvSpPr>
        <p:spPr>
          <a:xfrm>
            <a:off x="548640" y="132588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Web / PWA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React 19 · Vite 8 · Workbox</a:t>
            </a:r>
            <a:endParaRPr lang="en-US" sz="1200" dirty="0"/>
          </a:p>
        </p:txBody>
      </p:sp>
      <p:sp>
        <p:nvSpPr>
          <p:cNvPr id="6" name="client-1"/>
          <p:cNvSpPr/>
          <p:nvPr/>
        </p:nvSpPr>
        <p:spPr>
          <a:xfrm>
            <a:off x="548640" y="251460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iOS · Android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Capacitor 8</a:t>
            </a:r>
            <a:endParaRPr lang="en-US" sz="1200" dirty="0"/>
          </a:p>
        </p:txBody>
      </p:sp>
      <p:sp>
        <p:nvSpPr>
          <p:cNvPr id="9" name="client-2"/>
          <p:cNvSpPr/>
          <p:nvPr/>
        </p:nvSpPr>
        <p:spPr>
          <a:xfrm>
            <a:off x="548640" y="370332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macOS · Windows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Tauri 2 (direncanakan)</a:t>
            </a:r>
            <a:endParaRPr lang="en-US" sz="1200" dirty="0"/>
          </a:p>
        </p:txBody>
      </p:sp>
      <p:sp>
        <p:nvSpPr>
          <p:cNvPr id="12" name="client-3"/>
          <p:cNvSpPr/>
          <p:nvPr/>
        </p:nvSpPr>
        <p:spPr>
          <a:xfrm>
            <a:off x="548640" y="489204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Lovable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94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preview &amp; editor</a:t>
            </a:r>
            <a:endParaRPr lang="en-US" sz="1200" dirty="0"/>
          </a:p>
        </p:txBody>
      </p:sp>
      <p:sp>
        <p:nvSpPr>
          <p:cNvPr id="15" name="hosting"/>
          <p:cNvSpPr/>
          <p:nvPr/>
        </p:nvSpPr>
        <p:spPr>
          <a:xfrm>
            <a:off x="3794760" y="1325880"/>
            <a:ext cx="3657600" cy="2103120"/>
          </a:xfrm>
          <a:prstGeom prst="roundRect">
            <a:avLst>
              <a:gd name="adj" fmla="val 6087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C795"/>
                </a:solidFill>
              </a:rPr>
              <a:t>Vercel (+ Netlify cadangan)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8288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SPA statis + CDN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/data/core · /data/heavy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/whitepaper · /sbom</a:t>
            </a:r>
            <a:endParaRPr lang="en-US" sz="1200" dirty="0"/>
          </a:p>
        </p:txBody>
      </p:sp>
      <p:sp>
        <p:nvSpPr>
          <p:cNvPr id="18" name="api"/>
          <p:cNvSpPr/>
          <p:nvPr/>
        </p:nvSpPr>
        <p:spPr>
          <a:xfrm>
            <a:off x="3794760" y="3611880"/>
            <a:ext cx="3657600" cy="2194560"/>
          </a:xfrm>
          <a:prstGeom prst="roundRect">
            <a:avLst>
              <a:gd name="adj" fmla="val 5833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7764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C795"/>
                </a:solidFill>
              </a:rPr>
              <a:t>API multi-agen (SSE)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411480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Penjaga → Konduktor → 29 agen Dex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→ Verifikator · tool baca-saja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zod · CORS · rate limit</a:t>
            </a:r>
            <a:endParaRPr lang="en-US" sz="1200" dirty="0"/>
          </a:p>
        </p:txBody>
      </p:sp>
      <p:sp>
        <p:nvSpPr>
          <p:cNvPr id="21" name="claude"/>
          <p:cNvSpPr/>
          <p:nvPr/>
        </p:nvSpPr>
        <p:spPr>
          <a:xfrm>
            <a:off x="8138160" y="1325880"/>
            <a:ext cx="3474720" cy="2103120"/>
          </a:xfrm>
          <a:prstGeom prst="roundRect">
            <a:avLst>
              <a:gd name="adj" fmla="val 6087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9C6D2"/>
                </a:solidFill>
              </a:rPr>
              <a:t>Claude API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18288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claude-sonnet-5-5 (agen)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claude-haiku-5-5 (cepat)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tanpa kunci API: mode data</a:t>
            </a:r>
            <a:endParaRPr lang="en-US" sz="1200" dirty="0"/>
          </a:p>
        </p:txBody>
      </p:sp>
      <p:sp>
        <p:nvSpPr>
          <p:cNvPr id="24" name="etl"/>
          <p:cNvSpPr/>
          <p:nvPr/>
        </p:nvSpPr>
        <p:spPr>
          <a:xfrm>
            <a:off x="8138160" y="3611880"/>
            <a:ext cx="3474720" cy="2194560"/>
          </a:xfrm>
          <a:prstGeom prst="roundRect">
            <a:avLst>
              <a:gd name="adj" fmla="val 5833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3AE55"/>
                </a:solidFill>
              </a:rPr>
              <a:t>Build data (CI)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11480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ETL TypeScript streaming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Golden + paritas Python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Regulasi resmi 35/37 + SHA-256</a:t>
            </a:r>
            <a:endParaRPr lang="en-US" sz="1200" dirty="0"/>
          </a:p>
        </p:txBody>
      </p:sp>
      <p:sp>
        <p:nvSpPr>
          <p:cNvPr id="27" name="arr-c0"/>
          <p:cNvSpPr/>
          <p:nvPr/>
        </p:nvSpPr>
        <p:spPr>
          <a:xfrm>
            <a:off x="3108960" y="1828800"/>
            <a:ext cx="685800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28" name="arr-c1"/>
          <p:cNvSpPr/>
          <p:nvPr/>
        </p:nvSpPr>
        <p:spPr>
          <a:xfrm>
            <a:off x="3108960" y="3017520"/>
            <a:ext cx="685800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29" name="arr-c2"/>
          <p:cNvSpPr/>
          <p:nvPr/>
        </p:nvSpPr>
        <p:spPr>
          <a:xfrm>
            <a:off x="3108960" y="4206240"/>
            <a:ext cx="685800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30" name="arr-c3"/>
          <p:cNvSpPr/>
          <p:nvPr/>
        </p:nvSpPr>
        <p:spPr>
          <a:xfrm>
            <a:off x="3108960" y="5394960"/>
            <a:ext cx="685800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31" name="arr-ai"/>
          <p:cNvSpPr/>
          <p:nvPr/>
        </p:nvSpPr>
        <p:spPr>
          <a:xfrm>
            <a:off x="7452360" y="4663440"/>
            <a:ext cx="685800" cy="0"/>
          </a:xfrm>
          <a:prstGeom prst="line">
            <a:avLst/>
          </a:prstGeom>
          <a:noFill/>
          <a:ln w="19050">
            <a:solidFill>
              <a:srgbClr val="79C6D2"/>
            </a:solidFill>
            <a:prstDash val="solid"/>
            <a:headEnd type="triangle"/>
            <a:tailEnd type="triangle"/>
          </a:ln>
        </p:spPr>
      </p:sp>
      <p:sp>
        <p:nvSpPr>
          <p:cNvPr id="32" name="arr-etl"/>
          <p:cNvSpPr/>
          <p:nvPr/>
        </p:nvSpPr>
        <p:spPr>
          <a:xfrm>
            <a:off x="7452360" y="2377440"/>
            <a:ext cx="685800" cy="0"/>
          </a:xfrm>
          <a:prstGeom prst="line">
            <a:avLst/>
          </a:prstGeom>
          <a:noFill/>
          <a:ln w="19050">
            <a:solidFill>
              <a:srgbClr val="E3AE55"/>
            </a:solidFill>
            <a:prstDash val="solid"/>
            <a:head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frontend</a:t>
            </a:r>
            <a:endParaRPr lang="en-US" sz="3400" dirty="0"/>
          </a:p>
        </p:txBody>
      </p:sp>
      <p:graphicFrame>
        <p:nvGraphicFramePr>
          <p:cNvPr id="8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UI &amp; bahasa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React 19.3.1, TypeScript 6.0.3 strict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Komponen &amp; tipe ketat di seluruh kode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Build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Vite 8.3.5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Code splitting, lazy load halaman Dex &amp; 3D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Styling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Tailwind CSS 4.3.3 + Radix UI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Token tema Obligasi &amp; Brankas, primitif aksesibel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Routing &amp; 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React Router 8.5.0, TanStack Query 5.104.5, Zustand 5.0.15, zod 4.6.7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Deep link, cache, state UI, validasi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Grafik &amp; 3D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Apache ECharts 6.1.0, three.js 0.186.1, TanStack Virtual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Grafik interaktif, Kantor Agen 3D, tabel besar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Cari &amp; teks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MiniSearch 7.2.0, react-markdown + rehype-sanitize, pdfjs-dist 6.4.299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Pencarian pasal &amp; entitas, chat aman, pratinjau PDF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Offline &amp; PWA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vite-plugin-pwa 2.0.0 (Workbox), IndexedDB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Service worker, data core offline, riwayat lokal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i18n &amp; font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i18next 26.5.4; Unbounded, IBM Plex Sans/Serif (OFL)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Bahasa Indonesia &amp; English, tipografi khas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backend, API &amp; AI</a:t>
            </a:r>
            <a:endParaRPr lang="en-US" sz="3400" dirty="0"/>
          </a:p>
        </p:txBody>
      </p:sp>
      <p:graphicFrame>
        <p:nvGraphicFramePr>
          <p:cNvPr id="9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Handler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handle(Request, env) di Web Fetch API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Runtime-agnostik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Adapter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Vercel Functions (esbuild → api/index.mjs), Netlify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Satu kode server untuk dua platform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Streaming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Server-Sent Events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plan, agent_*, verify, text, artifact, method, citation, done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Multi-agen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Konduktor, 29 agen Dex, Verifikator, Penjaga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Rencana, delegasi paralel, verifikasi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Keamanan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zod, CORS allowlist, CSP, HSTS, rate limit (Upstash Redis)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Validasi, pembatasan, tanpa secret di klien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SDK AI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@anthropic-ai/sdk 1.0.0 (Claude API)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Streaming, strict tool use, prompt caching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claude-sonnet-5-5 · claude-haiku-5-5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Agen spesialis &amp; Konduktor · tugas cepat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Batas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per agen 6 giliran · 8 tool · 20 dtk; tenggat 50 dtk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Sesuai batas fungsi 60 detik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data, ETL &amp; verifikasi</a:t>
            </a:r>
            <a:endParaRPr lang="en-US" sz="3400" dirty="0"/>
          </a:p>
        </p:txBody>
      </p:sp>
      <p:graphicFrame>
        <p:nvGraphicFramePr>
          <p:cNvPr id="10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ETL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TypeScript streaming (CSV, ZIP, Parquet JS)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public/data/core &amp; heavy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JSON kolumnar + kamus, matriks Float32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Ringkas &amp; cepat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Input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GitHub Release data-inputs-v1 (42 file)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Diverifikasi SHA-256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Regulasi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35/37 teks resmi → lock file → Release data-regulations-v1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Hanya domain resmi; verifikasi judul &amp; jangkar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Dataset kit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AntiScam KB, katalog regulasi, alur konsultasi, panduan fitur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Validator + golden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Referensi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Python 3.12, pandas, numpy, pyarrow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Golden fixtures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Paritas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GitHub Actions parity.yml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Python = golden = TypeScript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Evaluasi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161 item chatbot: mock 161/161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keamanan 100%; routing agen P/R 100%/100%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mobile, desktop, DevOps &amp; mutu</a:t>
            </a:r>
            <a:endParaRPr lang="en-US" sz="3400" dirty="0"/>
          </a:p>
        </p:txBody>
      </p:sp>
      <p:graphicFrame>
        <p:nvGraphicFramePr>
          <p:cNvPr id="11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Mobile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Capacitor 8.5.3 (iOS &amp; Android) + plugin resmi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Haptik, share, offline, in-app browser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Desktop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Tauri 2 (paket siap; shell desktop belum dirilis)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Sementara: PWA di Chrome/Edge/Safari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Repo &amp; rilis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GitHub DSKPutra/finandex: main → CI → release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Fast-forward saat CI hijau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Hosting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Vercel (produksi), Netlify (cadangan), Lovable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finandex.vercel.app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CI/CD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ci, parity, promote, android, ios, compliance, eval-live, deploy-fallback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GitHub Actions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Uji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Vitest 5.0.5, Playwright, axe, Lighthouse CI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909/909 tes lulus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UI/UX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ui:audit token, regresi visual, kontras AA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Tema Obligasi &amp; Brankas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Rantai pasok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SBOM CycloneDX 1.7 + SPDX 2.3, VEX, Sigstore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gitleaks, npm audit, lisensi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AI: 32 agen bekerja sama</a:t>
            </a:r>
            <a:endParaRPr lang="en-US" sz="3400" dirty="0"/>
          </a:p>
        </p:txBody>
      </p:sp>
      <p:sp>
        <p:nvSpPr>
          <p:cNvPr id="3" name="agent-chain-0"/>
          <p:cNvSpPr/>
          <p:nvPr/>
        </p:nvSpPr>
        <p:spPr>
          <a:xfrm>
            <a:off x="548640" y="1325880"/>
            <a:ext cx="2011680" cy="1463040"/>
          </a:xfrm>
          <a:prstGeom prst="roundRect">
            <a:avLst>
              <a:gd name="adj" fmla="val 875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8E79"/>
                </a:solidFill>
              </a:rPr>
              <a:t>Penjaga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pindai data sensitif &amp; kebijakan</a:t>
            </a:r>
            <a:endParaRPr lang="en-US" sz="1200" dirty="0"/>
          </a:p>
        </p:txBody>
      </p:sp>
      <p:sp>
        <p:nvSpPr>
          <p:cNvPr id="6" name="agent-arr-0"/>
          <p:cNvSpPr/>
          <p:nvPr/>
        </p:nvSpPr>
        <p:spPr>
          <a:xfrm>
            <a:off x="2560320" y="2057400"/>
            <a:ext cx="256032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7" name="agent-chain-1"/>
          <p:cNvSpPr/>
          <p:nvPr/>
        </p:nvSpPr>
        <p:spPr>
          <a:xfrm>
            <a:off x="2816352" y="1325880"/>
            <a:ext cx="2011680" cy="1463040"/>
          </a:xfrm>
          <a:prstGeom prst="roundRect">
            <a:avLst>
              <a:gd name="adj" fmla="val 875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9C6D2"/>
                </a:solidFill>
              </a:rPr>
              <a:t>Konduktor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rencana, ≤ 4 agen paralel</a:t>
            </a:r>
            <a:endParaRPr lang="en-US" sz="1200" dirty="0"/>
          </a:p>
        </p:txBody>
      </p:sp>
      <p:sp>
        <p:nvSpPr>
          <p:cNvPr id="10" name="agent-arr-1"/>
          <p:cNvSpPr/>
          <p:nvPr/>
        </p:nvSpPr>
        <p:spPr>
          <a:xfrm>
            <a:off x="4828032" y="2057400"/>
            <a:ext cx="256032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11" name="agent-chain-2"/>
          <p:cNvSpPr/>
          <p:nvPr/>
        </p:nvSpPr>
        <p:spPr>
          <a:xfrm>
            <a:off x="5084064" y="1325880"/>
            <a:ext cx="2011680" cy="1463040"/>
          </a:xfrm>
          <a:prstGeom prst="roundRect">
            <a:avLst>
              <a:gd name="adj" fmla="val 875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48656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C795"/>
                </a:solidFill>
              </a:rPr>
              <a:t>29 agen Dex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48656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tool baca-saja + keahlian</a:t>
            </a:r>
            <a:endParaRPr lang="en-US" sz="1200" dirty="0"/>
          </a:p>
        </p:txBody>
      </p:sp>
      <p:sp>
        <p:nvSpPr>
          <p:cNvPr id="14" name="agent-arr-2"/>
          <p:cNvSpPr/>
          <p:nvPr/>
        </p:nvSpPr>
        <p:spPr>
          <a:xfrm>
            <a:off x="7095744" y="2057400"/>
            <a:ext cx="256032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15" name="agent-chain-3"/>
          <p:cNvSpPr/>
          <p:nvPr/>
        </p:nvSpPr>
        <p:spPr>
          <a:xfrm>
            <a:off x="7351776" y="1325880"/>
            <a:ext cx="2011680" cy="1463040"/>
          </a:xfrm>
          <a:prstGeom prst="roundRect">
            <a:avLst>
              <a:gd name="adj" fmla="val 875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16368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3AE55"/>
                </a:solidFill>
              </a:rPr>
              <a:t>Verifikator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16368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angka &amp; kutipan dicek ke data</a:t>
            </a:r>
            <a:endParaRPr lang="en-US" sz="1200" dirty="0"/>
          </a:p>
        </p:txBody>
      </p:sp>
      <p:sp>
        <p:nvSpPr>
          <p:cNvPr id="18" name="agent-arr-3"/>
          <p:cNvSpPr/>
          <p:nvPr/>
        </p:nvSpPr>
        <p:spPr>
          <a:xfrm>
            <a:off x="9363456" y="2057400"/>
            <a:ext cx="256032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19" name="agent-chain-4"/>
          <p:cNvSpPr/>
          <p:nvPr/>
        </p:nvSpPr>
        <p:spPr>
          <a:xfrm>
            <a:off x="9619488" y="1325880"/>
            <a:ext cx="2011680" cy="1463040"/>
          </a:xfrm>
          <a:prstGeom prst="roundRect">
            <a:avLst>
              <a:gd name="adj" fmla="val 875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8408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8E79"/>
                </a:solidFill>
              </a:rPr>
              <a:t>Penjaga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pemeriksaan jawaban keluar</a:t>
            </a:r>
            <a:endParaRPr lang="en-US" sz="1200" dirty="0"/>
          </a:p>
        </p:txBody>
      </p:sp>
      <p:sp>
        <p:nvSpPr>
          <p:cNvPr id="22" name="agent-stat-0"/>
          <p:cNvSpPr/>
          <p:nvPr/>
        </p:nvSpPr>
        <p:spPr>
          <a:xfrm>
            <a:off x="548640" y="3063240"/>
            <a:ext cx="2615184" cy="1920240"/>
          </a:xfrm>
          <a:prstGeom prst="roundRect">
            <a:avLst>
              <a:gd name="adj" fmla="val 6667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EE7"/>
                </a:solidFill>
              </a:rPr>
              <a:t>agen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1 Konduktor · 29 Dex · Verifikator · Penjaga</a:t>
            </a:r>
            <a:endParaRPr lang="en-US" sz="1200" dirty="0"/>
          </a:p>
        </p:txBody>
      </p:sp>
      <p:sp>
        <p:nvSpPr>
          <p:cNvPr id="26" name="agent-stat-1"/>
          <p:cNvSpPr/>
          <p:nvPr/>
        </p:nvSpPr>
        <p:spPr>
          <a:xfrm>
            <a:off x="3364992" y="3063240"/>
            <a:ext cx="2615184" cy="1920240"/>
          </a:xfrm>
          <a:prstGeom prst="roundRect">
            <a:avLst>
              <a:gd name="adj" fmla="val 6667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93592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3593592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EE7"/>
                </a:solidFill>
              </a:rPr>
              <a:t>keahlian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593592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dibangkitkan dari registry, tab &amp; panduan fitur</a:t>
            </a:r>
            <a:endParaRPr lang="en-US" sz="1200" dirty="0"/>
          </a:p>
        </p:txBody>
      </p:sp>
      <p:sp>
        <p:nvSpPr>
          <p:cNvPr id="30" name="agent-stat-2"/>
          <p:cNvSpPr/>
          <p:nvPr/>
        </p:nvSpPr>
        <p:spPr>
          <a:xfrm>
            <a:off x="6181344" y="3063240"/>
            <a:ext cx="2615184" cy="1920240"/>
          </a:xfrm>
          <a:prstGeom prst="roundRect">
            <a:avLst>
              <a:gd name="adj" fmla="val 6667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9944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6409944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EE7"/>
                </a:solidFill>
              </a:rPr>
              <a:t>routing tepat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9944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presisi &amp; recall, 67 butir</a:t>
            </a:r>
            <a:endParaRPr lang="en-US" sz="1200" dirty="0"/>
          </a:p>
        </p:txBody>
      </p:sp>
      <p:sp>
        <p:nvSpPr>
          <p:cNvPr id="34" name="agent-stat-3"/>
          <p:cNvSpPr/>
          <p:nvPr/>
        </p:nvSpPr>
        <p:spPr>
          <a:xfrm>
            <a:off x="8997696" y="3063240"/>
            <a:ext cx="2615184" cy="1920240"/>
          </a:xfrm>
          <a:prstGeom prst="roundRect">
            <a:avLst>
              <a:gd name="adj" fmla="val 6667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26296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36" name="Text 34"/>
          <p:cNvSpPr txBox="1"/>
          <p:nvPr/>
        </p:nvSpPr>
        <p:spPr>
          <a:xfrm>
            <a:off x="9226296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EE7"/>
                </a:solidFill>
              </a:rPr>
              <a:t>kolaborasi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226296" y="4297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534 butir keahlian · 8 skenario kolaborasi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E7"/>
                </a:solidFill>
              </a:rPr>
              <a:t>Kantor Agen 3D di /agents: animasi hanya digerakkan event nyata (rencana, tool, handoff, verifikasi). Aksi aplikasi hanya diusulkan agen dan dijalankan setelah pengguna menekan konfirmasi.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Pasang di semua perangkat</a:t>
            </a:r>
            <a:endParaRPr lang="en-US" sz="3400" dirty="0"/>
          </a:p>
        </p:txBody>
      </p:sp>
      <p:sp>
        <p:nvSpPr>
          <p:cNvPr id="3" name="inst-0"/>
          <p:cNvSpPr/>
          <p:nvPr/>
        </p:nvSpPr>
        <p:spPr>
          <a:xfrm>
            <a:off x="548640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pic>
        <p:nvPicPr>
          <p:cNvPr id="4" name="inst-i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iPhone &amp; iPad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Panduan "Tambahkan ke Layar Utama" di Safari; App Store/TestFlight saat tersedia</a:t>
            </a:r>
            <a:endParaRPr lang="en-US" sz="1400" dirty="0"/>
          </a:p>
        </p:txBody>
      </p:sp>
      <p:sp>
        <p:nvSpPr>
          <p:cNvPr id="7" name="inst-1"/>
          <p:cNvSpPr/>
          <p:nvPr/>
        </p:nvSpPr>
        <p:spPr>
          <a:xfrm>
            <a:off x="3364992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pic>
        <p:nvPicPr>
          <p:cNvPr id="8" name="inst-i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6459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39312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Android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639312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Tombol pasang PWA otomatis; Google Play saat tersedia</a:t>
            </a:r>
            <a:endParaRPr lang="en-US" sz="1400" dirty="0"/>
          </a:p>
        </p:txBody>
      </p:sp>
      <p:sp>
        <p:nvSpPr>
          <p:cNvPr id="11" name="inst-2"/>
          <p:cNvSpPr/>
          <p:nvPr/>
        </p:nvSpPr>
        <p:spPr>
          <a:xfrm>
            <a:off x="6181344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pic>
        <p:nvPicPr>
          <p:cNvPr id="12" name="inst-i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64592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55664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macOS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55664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Pasang sebagai PWA dari Safari/Chrome; installer .dmg Tauri menyusul</a:t>
            </a:r>
            <a:endParaRPr lang="en-US" sz="1400" dirty="0"/>
          </a:p>
        </p:txBody>
      </p:sp>
      <p:sp>
        <p:nvSpPr>
          <p:cNvPr id="15" name="inst-3"/>
          <p:cNvSpPr/>
          <p:nvPr/>
        </p:nvSpPr>
        <p:spPr>
          <a:xfrm>
            <a:off x="8997696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pic>
        <p:nvPicPr>
          <p:cNvPr id="16" name="inst-i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164592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72016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Windows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9272016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Pasang sebagai PWA dari Edge/Chrome; installer .exe/.msi Tauri menyusul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E7"/>
                </a:solidFill>
              </a:rPr>
              <a:t>Halaman /install mengenali perangkat dan menampilkan satu tombol yang tepat, plus kode QR di desktop untuk ponsel. Proyek Android &amp; iOS (Capacitor) sudah ada di repo; rilis store menunggu akun &amp; sertifikat tanda tangan.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desain: Obligasi &amp; Brankas</a:t>
            </a:r>
            <a:endParaRPr lang="en-US" sz="3400" dirty="0"/>
          </a:p>
        </p:txBody>
      </p:sp>
      <p:sp>
        <p:nvSpPr>
          <p:cNvPr id="3" name="motif-line"/>
          <p:cNvSpPr/>
          <p:nvPr/>
        </p:nvSpPr>
        <p:spPr>
          <a:xfrm>
            <a:off x="3154680" y="3474720"/>
            <a:ext cx="456730" cy="1701122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4" name="motif-line"/>
          <p:cNvSpPr/>
          <p:nvPr/>
        </p:nvSpPr>
        <p:spPr>
          <a:xfrm flipV="1">
            <a:off x="1683440" y="3474720"/>
            <a:ext cx="1471240" cy="1091462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5" name="motif-line"/>
          <p:cNvSpPr/>
          <p:nvPr/>
        </p:nvSpPr>
        <p:spPr>
          <a:xfrm flipV="1">
            <a:off x="3154680" y="2796778"/>
            <a:ext cx="1153975" cy="677942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6" name="motif-line"/>
          <p:cNvSpPr/>
          <p:nvPr/>
        </p:nvSpPr>
        <p:spPr>
          <a:xfrm>
            <a:off x="3154680" y="3474720"/>
            <a:ext cx="1841265" cy="79859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7" name="motif-line"/>
          <p:cNvSpPr/>
          <p:nvPr/>
        </p:nvSpPr>
        <p:spPr>
          <a:xfrm flipV="1">
            <a:off x="2672864" y="3474720"/>
            <a:ext cx="481816" cy="352990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8" name="motif-line"/>
          <p:cNvSpPr/>
          <p:nvPr/>
        </p:nvSpPr>
        <p:spPr>
          <a:xfrm flipV="1">
            <a:off x="1177635" y="3474720"/>
            <a:ext cx="1977045" cy="1180030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9" name="motif-line"/>
          <p:cNvSpPr/>
          <p:nvPr/>
        </p:nvSpPr>
        <p:spPr>
          <a:xfrm flipV="1">
            <a:off x="2655147" y="3474720"/>
            <a:ext cx="499533" cy="172249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0" name="motif-line"/>
          <p:cNvSpPr/>
          <p:nvPr/>
        </p:nvSpPr>
        <p:spPr>
          <a:xfrm flipV="1">
            <a:off x="3154680" y="2933451"/>
            <a:ext cx="846275" cy="541269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1" name="motif-line"/>
          <p:cNvSpPr/>
          <p:nvPr/>
        </p:nvSpPr>
        <p:spPr>
          <a:xfrm>
            <a:off x="925281" y="3085416"/>
            <a:ext cx="2229399" cy="389304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2" name="motif-line"/>
          <p:cNvSpPr/>
          <p:nvPr/>
        </p:nvSpPr>
        <p:spPr>
          <a:xfrm>
            <a:off x="3154680" y="3474720"/>
            <a:ext cx="1054335" cy="576212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3" name="motif-line"/>
          <p:cNvSpPr/>
          <p:nvPr/>
        </p:nvSpPr>
        <p:spPr>
          <a:xfrm>
            <a:off x="3154680" y="3474720"/>
            <a:ext cx="989032" cy="1212846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4" name="motif-line"/>
          <p:cNvSpPr/>
          <p:nvPr/>
        </p:nvSpPr>
        <p:spPr>
          <a:xfrm flipV="1">
            <a:off x="2027594" y="3474720"/>
            <a:ext cx="1127086" cy="1624455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5" name="motif-line"/>
          <p:cNvSpPr/>
          <p:nvPr/>
        </p:nvSpPr>
        <p:spPr>
          <a:xfrm flipV="1">
            <a:off x="3154680" y="3364389"/>
            <a:ext cx="406870" cy="110331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6" name="motif-node"/>
          <p:cNvSpPr/>
          <p:nvPr/>
        </p:nvSpPr>
        <p:spPr>
          <a:xfrm>
            <a:off x="3570262" y="5134694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17" name="motif-node"/>
          <p:cNvSpPr/>
          <p:nvPr/>
        </p:nvSpPr>
        <p:spPr>
          <a:xfrm>
            <a:off x="1959517" y="1768223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18" name="motif-node"/>
          <p:cNvSpPr/>
          <p:nvPr/>
        </p:nvSpPr>
        <p:spPr>
          <a:xfrm>
            <a:off x="1642292" y="4525034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19" name="motif-node"/>
          <p:cNvSpPr/>
          <p:nvPr/>
        </p:nvSpPr>
        <p:spPr>
          <a:xfrm>
            <a:off x="1489696" y="2707776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0" name="motif-node"/>
          <p:cNvSpPr/>
          <p:nvPr/>
        </p:nvSpPr>
        <p:spPr>
          <a:xfrm>
            <a:off x="4267507" y="2755630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1" name="motif-node"/>
          <p:cNvSpPr/>
          <p:nvPr/>
        </p:nvSpPr>
        <p:spPr>
          <a:xfrm>
            <a:off x="3428171" y="4876312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2" name="motif-node"/>
          <p:cNvSpPr/>
          <p:nvPr/>
        </p:nvSpPr>
        <p:spPr>
          <a:xfrm>
            <a:off x="4954797" y="3513431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3" name="motif-node"/>
          <p:cNvSpPr/>
          <p:nvPr/>
        </p:nvSpPr>
        <p:spPr>
          <a:xfrm>
            <a:off x="1961164" y="3236729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4" name="motif-node"/>
          <p:cNvSpPr/>
          <p:nvPr/>
        </p:nvSpPr>
        <p:spPr>
          <a:xfrm>
            <a:off x="2631716" y="3786562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5" name="motif-node"/>
          <p:cNvSpPr/>
          <p:nvPr/>
        </p:nvSpPr>
        <p:spPr>
          <a:xfrm>
            <a:off x="1773564" y="4747499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6" name="motif-node"/>
          <p:cNvSpPr/>
          <p:nvPr/>
        </p:nvSpPr>
        <p:spPr>
          <a:xfrm>
            <a:off x="1136487" y="4613602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7" name="motif-node"/>
          <p:cNvSpPr/>
          <p:nvPr/>
        </p:nvSpPr>
        <p:spPr>
          <a:xfrm>
            <a:off x="776928" y="2657866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8" name="motif-node"/>
          <p:cNvSpPr/>
          <p:nvPr/>
        </p:nvSpPr>
        <p:spPr>
          <a:xfrm>
            <a:off x="2613999" y="3605821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9" name="motif-node"/>
          <p:cNvSpPr/>
          <p:nvPr/>
        </p:nvSpPr>
        <p:spPr>
          <a:xfrm>
            <a:off x="3317477" y="4082088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0" name="motif-node"/>
          <p:cNvSpPr/>
          <p:nvPr/>
        </p:nvSpPr>
        <p:spPr>
          <a:xfrm>
            <a:off x="3959807" y="2892303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1" name="motif-node"/>
          <p:cNvSpPr/>
          <p:nvPr/>
        </p:nvSpPr>
        <p:spPr>
          <a:xfrm>
            <a:off x="4428100" y="1490476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2" name="motif-node"/>
          <p:cNvSpPr/>
          <p:nvPr/>
        </p:nvSpPr>
        <p:spPr>
          <a:xfrm>
            <a:off x="884133" y="3044268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3" name="motif-node"/>
          <p:cNvSpPr/>
          <p:nvPr/>
        </p:nvSpPr>
        <p:spPr>
          <a:xfrm>
            <a:off x="4560352" y="1685714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4" name="motif-node"/>
          <p:cNvSpPr/>
          <p:nvPr/>
        </p:nvSpPr>
        <p:spPr>
          <a:xfrm>
            <a:off x="4167867" y="4009784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5" name="motif-node"/>
          <p:cNvSpPr/>
          <p:nvPr/>
        </p:nvSpPr>
        <p:spPr>
          <a:xfrm>
            <a:off x="4504456" y="2902220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6" name="motif-node"/>
          <p:cNvSpPr/>
          <p:nvPr/>
        </p:nvSpPr>
        <p:spPr>
          <a:xfrm>
            <a:off x="4102564" y="4646418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7" name="motif-node"/>
          <p:cNvSpPr/>
          <p:nvPr/>
        </p:nvSpPr>
        <p:spPr>
          <a:xfrm>
            <a:off x="3357301" y="4153346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8" name="motif-node"/>
          <p:cNvSpPr/>
          <p:nvPr/>
        </p:nvSpPr>
        <p:spPr>
          <a:xfrm>
            <a:off x="1986446" y="5058027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9" name="motif-node"/>
          <p:cNvSpPr/>
          <p:nvPr/>
        </p:nvSpPr>
        <p:spPr>
          <a:xfrm>
            <a:off x="4110443" y="4764015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40" name="motif-node"/>
          <p:cNvSpPr/>
          <p:nvPr/>
        </p:nvSpPr>
        <p:spPr>
          <a:xfrm>
            <a:off x="3520402" y="3323241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41" name="motif-node"/>
          <p:cNvSpPr/>
          <p:nvPr/>
        </p:nvSpPr>
        <p:spPr>
          <a:xfrm>
            <a:off x="3998103" y="2501286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42" name="motif-core"/>
          <p:cNvSpPr/>
          <p:nvPr/>
        </p:nvSpPr>
        <p:spPr>
          <a:xfrm>
            <a:off x="3035808" y="3355848"/>
            <a:ext cx="237744" cy="237744"/>
          </a:xfrm>
          <a:prstGeom prst="ellipse">
            <a:avLst/>
          </a:prstGeom>
          <a:solidFill>
            <a:srgbClr val="0F1F19"/>
          </a:solidFill>
          <a:ln w="25400">
            <a:solidFill>
              <a:srgbClr val="5BC79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5623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5A6"/>
                </a:solidFill>
              </a:rPr>
              <a:t>Konstelasi Indeks di Beranda: satu inti (Finandex AI) dan 29 titik tinta Dex; opasitas = kesegaran data, cincin = status. Titik menyala saat agennya bekerja.</a:t>
            </a:r>
            <a:endParaRPr lang="en-US" sz="1300" dirty="0"/>
          </a:p>
        </p:txBody>
      </p:sp>
      <p:sp>
        <p:nvSpPr>
          <p:cNvPr id="44" name="sw-data"/>
          <p:cNvSpPr/>
          <p:nvPr/>
        </p:nvSpPr>
        <p:spPr>
          <a:xfrm>
            <a:off x="5943600" y="1417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629400" y="1490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EE7"/>
                </a:solidFill>
              </a:rPr>
              <a:t>data  </a:t>
            </a:r>
            <a:pPr indent="0" marL="0">
              <a:buNone/>
            </a:pPr>
            <a:r>
              <a:rPr lang="en-US" sz="1600" dirty="0">
                <a:solidFill>
                  <a:srgbClr val="9FB5A6"/>
                </a:solidFill>
              </a:rPr>
              <a:t>angka dari dataset</a:t>
            </a:r>
            <a:endParaRPr lang="en-US" sz="1600" dirty="0"/>
          </a:p>
        </p:txBody>
      </p:sp>
      <p:sp>
        <p:nvSpPr>
          <p:cNvPr id="46" name="sw-ai"/>
          <p:cNvSpPr/>
          <p:nvPr/>
        </p:nvSpPr>
        <p:spPr>
          <a:xfrm>
            <a:off x="594360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9C6D2"/>
          </a:solidFill>
          <a:ln w="12700">
            <a:solidFill>
              <a:srgbClr val="79C6D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2940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EE7"/>
                </a:solidFill>
              </a:rPr>
              <a:t>ai  </a:t>
            </a:r>
            <a:pPr indent="0" marL="0">
              <a:buNone/>
            </a:pPr>
            <a:r>
              <a:rPr lang="en-US" sz="1600" dirty="0">
                <a:solidFill>
                  <a:srgbClr val="9FB5A6"/>
                </a:solidFill>
              </a:rPr>
              <a:t>narasi AI</a:t>
            </a:r>
            <a:endParaRPr lang="en-US" sz="1600" dirty="0"/>
          </a:p>
        </p:txBody>
      </p:sp>
      <p:sp>
        <p:nvSpPr>
          <p:cNvPr id="48" name="sw-quote"/>
          <p:cNvSpPr/>
          <p:nvPr/>
        </p:nvSpPr>
        <p:spPr>
          <a:xfrm>
            <a:off x="59436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9DFC7"/>
          </a:solidFill>
          <a:ln w="12700">
            <a:solidFill>
              <a:srgbClr val="E9DFC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29400" y="2862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EE7"/>
                </a:solidFill>
              </a:rPr>
              <a:t>quote  </a:t>
            </a:r>
            <a:pPr indent="0" marL="0">
              <a:buNone/>
            </a:pPr>
            <a:r>
              <a:rPr lang="en-US" sz="1600" dirty="0">
                <a:solidFill>
                  <a:srgbClr val="9FB5A6"/>
                </a:solidFill>
              </a:rPr>
              <a:t>kutipan teks resmi</a:t>
            </a:r>
            <a:endParaRPr lang="en-US" sz="1600" dirty="0"/>
          </a:p>
        </p:txBody>
      </p:sp>
      <p:sp>
        <p:nvSpPr>
          <p:cNvPr id="50" name="sw-flag"/>
          <p:cNvSpPr/>
          <p:nvPr/>
        </p:nvSpPr>
        <p:spPr>
          <a:xfrm>
            <a:off x="5943600" y="3474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3AE55"/>
          </a:solidFill>
          <a:ln w="12700">
            <a:solidFill>
              <a:srgbClr val="E3AE5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29400" y="3547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EE7"/>
                </a:solidFill>
              </a:rPr>
              <a:t>flag  </a:t>
            </a:r>
            <a:pPr indent="0" marL="0">
              <a:buNone/>
            </a:pPr>
            <a:r>
              <a:rPr lang="en-US" sz="1600" dirty="0">
                <a:solidFill>
                  <a:srgbClr val="9FB5A6"/>
                </a:solidFill>
              </a:rPr>
              <a:t>keterbatasan &amp; flag</a:t>
            </a:r>
            <a:endParaRPr lang="en-US" sz="1600" dirty="0"/>
          </a:p>
        </p:txBody>
      </p:sp>
      <p:sp>
        <p:nvSpPr>
          <p:cNvPr id="52" name="sw-negative"/>
          <p:cNvSpPr/>
          <p:nvPr/>
        </p:nvSpPr>
        <p:spPr>
          <a:xfrm>
            <a:off x="5943600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E8E79"/>
          </a:solidFill>
          <a:ln w="12700">
            <a:solidFill>
              <a:srgbClr val="EE8E7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29400" y="4233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EEE7"/>
                </a:solidFill>
              </a:rPr>
              <a:t>negative  </a:t>
            </a:r>
            <a:pPr indent="0" marL="0">
              <a:buNone/>
            </a:pPr>
            <a:r>
              <a:rPr lang="en-US" sz="1600" dirty="0">
                <a:solidFill>
                  <a:srgbClr val="9FB5A6"/>
                </a:solidFill>
              </a:rPr>
              <a:t>negatif &amp; bahaya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0" y="49834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E7"/>
                </a:solidFill>
              </a:rPr>
              <a:t>Tema terang Obligasi (default, mengikuti sistem) dan gelap Brankas: hijau tinta surat berharga, tanpa neon, glow, atau gradien dekoratif; semua pasangan warna lulus kontras WCAG AA. Tipografi: Unbounded, IBM Plex Sans, IBM Plex Serif.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LAIwyer dan FinLAIwyer</a:t>
            </a:r>
            <a:endParaRPr lang="en-US" sz="3400" dirty="0"/>
          </a:p>
        </p:txBody>
      </p:sp>
      <p:sp>
        <p:nvSpPr>
          <p:cNvPr id="3" name="law-mylaiwyer"/>
          <p:cNvSpPr/>
          <p:nvPr/>
        </p:nvSpPr>
        <p:spPr>
          <a:xfrm>
            <a:off x="548640" y="1371600"/>
            <a:ext cx="5440680" cy="3566160"/>
          </a:xfrm>
          <a:prstGeom prst="roundRect">
            <a:avLst>
              <a:gd name="adj" fmla="val 359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pic>
        <p:nvPicPr>
          <p:cNvPr id="4" name="law-ic-mylaiwy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My LAIwyer — hukum umum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06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11 dokumen: UUD 1945, KUHP baru, KUHAP 1981 &amp; 2025, UU 1/2026, KUHPerdata, bantuan hukum, gugatan sederhana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840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9C6D2"/>
                </a:solidFill>
              </a:rPr>
              <a:t>3 alur terpandu: diperiksa polisi, gugatan ganti rugi, hierarki peraturan</a:t>
            </a:r>
            <a:endParaRPr lang="en-US" sz="1400" dirty="0"/>
          </a:p>
        </p:txBody>
      </p:sp>
      <p:sp>
        <p:nvSpPr>
          <p:cNvPr id="8" name="law-finlaiwyer"/>
          <p:cNvSpPr/>
          <p:nvPr/>
        </p:nvSpPr>
        <p:spPr>
          <a:xfrm>
            <a:off x="6172200" y="1371600"/>
            <a:ext cx="5440680" cy="3566160"/>
          </a:xfrm>
          <a:prstGeom prst="roundRect">
            <a:avLst>
              <a:gd name="adj" fmla="val 359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pic>
        <p:nvPicPr>
          <p:cNvPr id="9" name="law-ic-finlaiwy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4592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6092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EEE7"/>
                </a:solidFill>
              </a:rPr>
              <a:t>FinLAIwyer — keuangan &amp; perbankan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46520" y="2606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30 dokumen: UU P2SK, OJK, Perbankan, BI, Transfer Dana, TPPU, PDP, ITE, POJK 22/2023, PBI 6/2026, dan lainnya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3840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9C6D2"/>
                </a:solidFill>
              </a:rPr>
              <a:t>7 alur terpandu: baru tertipu, uang nyasar, teror pinjol, investasi bodong, transaksi tidak sah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DFC7"/>
                </a:solidFill>
              </a:rPr>
              <a:t>Kutipan hanya dari teks resmi terverifikasi. </a:t>
            </a:r>
            <a:pPr indent="0" marL="0">
              <a:buNone/>
            </a:pPr>
            <a:r>
              <a:rPr lang="en-US" sz="1500" dirty="0">
                <a:solidFill>
                  <a:srgbClr val="E6EEE7"/>
                </a:solidFill>
              </a:rPr>
              <a:t>35/37 teks resmi tersedia &amp; terverifikasi SHA-256. Status dokumen selalu disebut; ancaman pidana UU sektoral dibaca bersama UU 1/2026. Informasi hukum, bukan nasihat hukum.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AntiScamDex: data penanganan scam</a:t>
            </a:r>
            <a:endParaRPr lang="en-US" sz="3400" dirty="0"/>
          </a:p>
        </p:txBody>
      </p:sp>
      <p:graphicFrame>
        <p:nvGraphicFramePr>
          <p:cNvPr id="3" name="chart-reports" descr=""/>
          <p:cNvGraphicFramePr/>
          <p:nvPr/>
        </p:nvGraphicFramePr>
        <p:xfrm>
          <a:off x="548640" y="132588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-funds" descr=""/>
          <p:cNvGraphicFramePr/>
          <p:nvPr/>
        </p:nvGraphicFramePr>
        <p:xfrm>
          <a:off x="6355080" y="1325880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E7"/>
                </a:solidFill>
              </a:rPr>
              <a:t>Per 30 Sep 2026: 702.833 rekening diblokir (51,21% dari yang dilaporkan); dana dikembalikan 25,54% dari dana diblokir. Fitur: Baru kena scam, Siapkan Laporan (offline), Statistik, Kenali Modus, Kanal Resmi.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833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5A6"/>
                </a:solidFill>
              </a:rPr>
              <a:t>Sumber: siaran pers OJK/Satgas PASTI (SP 15/GKPB/OJK/I/2026, SP 16/STPASTI/VIII/2026), Kontan &amp; Bisnis.com 6 Okt 2026. Finandex tidak berafiliasi dengan IASC/OJK.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dan privasi</a:t>
            </a:r>
            <a:endParaRPr lang="en-US" sz="3400" dirty="0"/>
          </a:p>
        </p:txBody>
      </p:sp>
      <p:pic>
        <p:nvPicPr>
          <p:cNvPr id="3" name="sec-i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35608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EE7"/>
                </a:solidFill>
              </a:rPr>
              <a:t>Secret hanya di server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17556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Bundel klien dipindai pola kunci; CSP ketat, CORS allowlist, rate limit</a:t>
            </a:r>
            <a:endParaRPr lang="en-US" sz="1400" dirty="0"/>
          </a:p>
        </p:txBody>
      </p:sp>
      <p:pic>
        <p:nvPicPr>
          <p:cNvPr id="6" name="sec-i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14016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2350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EE7"/>
                </a:solidFill>
              </a:rPr>
              <a:t>Data sensitif diblokir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273405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Seed phrase, private key, kartu, NIK, OTP/PIN, dan nomor rekening dicegah sebelum terkirim</a:t>
            </a:r>
            <a:endParaRPr lang="en-US" sz="1400" dirty="0"/>
          </a:p>
        </p:txBody>
      </p:sp>
      <p:pic>
        <p:nvPicPr>
          <p:cNvPr id="9" name="sec-i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92424"/>
            <a:ext cx="4572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33284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EE7"/>
                </a:solidFill>
              </a:rPr>
              <a:t>Tanpa akun &amp; tanpa pelacakan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371600" y="371246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Riwayat chat, watchlist, dan isian Siapkan Laporan hanya di perangkat (terenkripsi)</a:t>
            </a:r>
            <a:endParaRPr lang="en-US" sz="1400" dirty="0"/>
          </a:p>
        </p:txBody>
      </p:sp>
      <p:pic>
        <p:nvPicPr>
          <p:cNvPr id="12" name="sec-i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70832"/>
            <a:ext cx="457200" cy="4572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3068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EE7"/>
                </a:solidFill>
              </a:rPr>
              <a:t>Tidak meniru lembaga resmi</a:t>
            </a:r>
            <a:endParaRPr lang="en-US" sz="1700" dirty="0"/>
          </a:p>
        </p:txBody>
      </p:sp>
      <p:sp>
        <p:nvSpPr>
          <p:cNvPr id="14" name="Text 8"/>
          <p:cNvSpPr txBox="1"/>
          <p:nvPr/>
        </p:nvSpPr>
        <p:spPr>
          <a:xfrm>
            <a:off x="1371600" y="46908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Tanpa logo OJK/BI/IASC; tidak ada formulir laporan atas nama lembaga</a:t>
            </a:r>
            <a:endParaRPr lang="en-US" sz="1400" dirty="0"/>
          </a:p>
        </p:txBody>
      </p:sp>
      <p:pic>
        <p:nvPicPr>
          <p:cNvPr id="15" name="sec-ic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34924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71600" y="52852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EE7"/>
                </a:solidFill>
              </a:rPr>
              <a:t>Isi dataset = data</a:t>
            </a:r>
            <a:endParaRPr lang="en-US" sz="1700" dirty="0"/>
          </a:p>
        </p:txBody>
      </p:sp>
      <p:sp>
        <p:nvSpPr>
          <p:cNvPr id="17" name="Text 10"/>
          <p:cNvSpPr txBox="1"/>
          <p:nvPr/>
        </p:nvSpPr>
        <p:spPr>
          <a:xfrm>
            <a:off x="1371600" y="5669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Teks dataset tidak pernah menjadi instruksi; eval memuat kasus prompt injection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 &amp; rantai pasok perangkat lunak</a:t>
            </a:r>
            <a:endParaRPr lang="en-US" sz="3400" dirty="0"/>
          </a:p>
        </p:txBody>
      </p:sp>
      <p:graphicFrame>
        <p:nvGraphicFramePr>
          <p:cNvPr id="18" name="sbom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0350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Artefak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Komponen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F19"/>
                          </a:solidFill>
                        </a:rPr>
                        <a:t>sbomqs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C79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Web/PWA &amp; server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259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9,2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Android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8,3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iOS/iPadOS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8,5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Desktop (belum ada biner)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4,7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Data &amp; aset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114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6,8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Referensi Python (CI)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6,8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Alat build (tidak dikirim)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1.159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9,2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6EEE7"/>
                          </a:solidFill>
                        </a:rPr>
                        <a:t>SBOM induk (hierarkis)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1.571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FB5A6"/>
                          </a:solidFill>
                        </a:rPr>
                        <a:t>9,0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F1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A23"/>
                    </a:solidFill>
                  </a:tcPr>
                </a:tc>
              </a:tr>
            </a:tbl>
          </a:graphicData>
        </a:graphic>
      </p:graphicFrame>
      <p:sp>
        <p:nvSpPr>
          <p:cNvPr id="4" name="sbom-stat-0"/>
          <p:cNvSpPr/>
          <p:nvPr/>
        </p:nvSpPr>
        <p:spPr>
          <a:xfrm>
            <a:off x="6858000" y="1325880"/>
            <a:ext cx="4754880" cy="1188720"/>
          </a:xfrm>
          <a:prstGeom prst="roundRect">
            <a:avLst>
              <a:gd name="adj" fmla="val 10769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04088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156/156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pemeriksaan lulus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5A6"/>
                </a:solidFill>
              </a:rPr>
              <a:t>skema CycloneDX 1.7, elemen minimum CISA 2026, cakupan, hash, kebocoran</a:t>
            </a:r>
            <a:endParaRPr lang="en-US" sz="1100" dirty="0"/>
          </a:p>
        </p:txBody>
      </p:sp>
      <p:sp>
        <p:nvSpPr>
          <p:cNvPr id="8" name="sbom-stat-1"/>
          <p:cNvSpPr/>
          <p:nvPr/>
        </p:nvSpPr>
        <p:spPr>
          <a:xfrm>
            <a:off x="6858000" y="2651760"/>
            <a:ext cx="4754880" cy="1188720"/>
          </a:xfrm>
          <a:prstGeom prst="roundRect">
            <a:avLst>
              <a:gd name="adj" fmla="val 10769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40880" y="2788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kerentanan terkirim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3154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5A6"/>
                </a:solidFill>
              </a:rPr>
              <a:t>24 temuan di alat build → VEX "not_affected"</a:t>
            </a:r>
            <a:endParaRPr lang="en-US" sz="1100" dirty="0"/>
          </a:p>
        </p:txBody>
      </p:sp>
      <p:sp>
        <p:nvSpPr>
          <p:cNvPr id="12" name="sbom-stat-2"/>
          <p:cNvSpPr/>
          <p:nvPr/>
        </p:nvSpPr>
        <p:spPr>
          <a:xfrm>
            <a:off x="6858000" y="3977640"/>
            <a:ext cx="4754880" cy="1188720"/>
          </a:xfrm>
          <a:prstGeom prst="roundRect">
            <a:avLst>
              <a:gd name="adj" fmla="val 10769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040880" y="4114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skor sbomqs induk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4480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5A6"/>
                </a:solidFill>
              </a:rPr>
              <a:t>dari 10 (syarat ≥ 8,0)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EE7"/>
                </a:solidFill>
              </a:rPr>
              <a:t>CycloneDX 1.7 (ECMA-424) + SPDX 2.3 · hash SHA-512/SHA-256 · VEX · tanda tangan Sigstore keyless &amp; atestasi GitHub saat rilis · unduh di /legal/sbom · dokumen rinci: Finandex_SBOM.docx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commit sampai aplikasi terpasang</a:t>
            </a:r>
            <a:endParaRPr lang="en-US" sz="3400" dirty="0"/>
          </a:p>
        </p:txBody>
      </p:sp>
      <p:sp>
        <p:nvSpPr>
          <p:cNvPr id="3" name="flow-0"/>
          <p:cNvSpPr/>
          <p:nvPr/>
        </p:nvSpPr>
        <p:spPr>
          <a:xfrm>
            <a:off x="548640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GitHub main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DSKPutra/finandex</a:t>
            </a:r>
            <a:endParaRPr lang="en-US" sz="1200" dirty="0"/>
          </a:p>
        </p:txBody>
      </p:sp>
      <p:sp>
        <p:nvSpPr>
          <p:cNvPr id="7" name="flow-arr-0"/>
          <p:cNvSpPr/>
          <p:nvPr/>
        </p:nvSpPr>
        <p:spPr>
          <a:xfrm>
            <a:off x="2560320" y="3108960"/>
            <a:ext cx="256032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8" name="flow-1"/>
          <p:cNvSpPr/>
          <p:nvPr/>
        </p:nvSpPr>
        <p:spPr>
          <a:xfrm>
            <a:off x="2816352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923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CI: npm run verify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lint · test · golden · eval chat &amp; agen · ui:audit · E2E</a:t>
            </a:r>
            <a:endParaRPr lang="en-US" sz="1200" dirty="0"/>
          </a:p>
        </p:txBody>
      </p:sp>
      <p:sp>
        <p:nvSpPr>
          <p:cNvPr id="12" name="flow-arr-1"/>
          <p:cNvSpPr/>
          <p:nvPr/>
        </p:nvSpPr>
        <p:spPr>
          <a:xfrm>
            <a:off x="4828032" y="3108960"/>
            <a:ext cx="256032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13" name="flow-2"/>
          <p:cNvSpPr/>
          <p:nvPr/>
        </p:nvSpPr>
        <p:spPr>
          <a:xfrm>
            <a:off x="5084064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694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266944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SBOM &amp; VEX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66944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compliance.yml: verifikasi, tanda tangan, atestasi</a:t>
            </a:r>
            <a:endParaRPr lang="en-US" sz="1200" dirty="0"/>
          </a:p>
        </p:txBody>
      </p:sp>
      <p:sp>
        <p:nvSpPr>
          <p:cNvPr id="17" name="flow-arr-2"/>
          <p:cNvSpPr/>
          <p:nvPr/>
        </p:nvSpPr>
        <p:spPr>
          <a:xfrm>
            <a:off x="7095744" y="3108960"/>
            <a:ext cx="256032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18" name="flow-3"/>
          <p:cNvSpPr/>
          <p:nvPr/>
        </p:nvSpPr>
        <p:spPr>
          <a:xfrm>
            <a:off x="7351776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465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534656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release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34656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fast-forward saat hijau</a:t>
            </a:r>
            <a:endParaRPr lang="en-US" sz="1200" dirty="0"/>
          </a:p>
        </p:txBody>
      </p:sp>
      <p:sp>
        <p:nvSpPr>
          <p:cNvPr id="22" name="flow-arr-3"/>
          <p:cNvSpPr/>
          <p:nvPr/>
        </p:nvSpPr>
        <p:spPr>
          <a:xfrm>
            <a:off x="9363456" y="3108960"/>
            <a:ext cx="256032" cy="0"/>
          </a:xfrm>
          <a:prstGeom prst="line">
            <a:avLst/>
          </a:prstGeom>
          <a:noFill/>
          <a:ln w="19050">
            <a:solidFill>
              <a:srgbClr val="5BC795"/>
            </a:solidFill>
            <a:prstDash val="solid"/>
            <a:tailEnd type="triangle"/>
          </a:ln>
        </p:spPr>
      </p:sp>
      <p:sp>
        <p:nvSpPr>
          <p:cNvPr id="23" name="flow-4"/>
          <p:cNvSpPr/>
          <p:nvPr/>
        </p:nvSpPr>
        <p:spPr>
          <a:xfrm>
            <a:off x="9619488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0236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C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9802368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E7"/>
                </a:solidFill>
              </a:rPr>
              <a:t>Produksi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finandex.vercel.app · PWA · store (menunggu akun)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EE7"/>
                </a:solidFill>
              </a:rPr>
              <a:t>Rollback: Vercel Instant Rollback. Data input &amp; dokumen regulasi disimpan di GitHub Releases dengan checksum; SBOM setiap rilis tersedia di /legal/sbom.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Whitepaper Finandex</a:t>
            </a:r>
            <a:endParaRPr lang="en-US" sz="3400" dirty="0"/>
          </a:p>
        </p:txBody>
      </p:sp>
      <p:pic>
        <p:nvPicPr>
          <p:cNvPr id="3" name="wp-cover-id" descr="/Volumes/[05] Projects/14 Claude App/Finandex/kit/whitepaper/assets/cover_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331720" cy="3310128"/>
          </a:xfrm>
          <a:prstGeom prst="rect">
            <a:avLst/>
          </a:prstGeom>
        </p:spPr>
      </p:pic>
      <p:pic>
        <p:nvPicPr>
          <p:cNvPr id="4" name="wp-cover-en" descr="/Volumes/[05] Projects/14 Claude App/Finandex/kit/whitepaper/assets/cover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325880"/>
            <a:ext cx="2331720" cy="33101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709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Bahasa Indonesia (31 halaman)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3063240" y="4709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English (21 pages)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852160" y="13258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C795"/>
                </a:solidFill>
              </a:rPr>
              <a:t>Isi whitepaper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852160" y="1828800"/>
            <a:ext cx="5760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EE7"/>
                </a:solidFill>
              </a:rPr>
              <a:t>Ringkasan eksekutif, masalah, visi &amp; prinsip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EE7"/>
                </a:solidFill>
              </a:rPr>
              <a:t>Peta 29 Dex dalam 8 kategori + katalog fungsi per Dex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EE7"/>
                </a:solidFill>
              </a:rPr>
              <a:t>Data, pembersihan, golden fixtures &amp; paritas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EE7"/>
                </a:solidFill>
              </a:rPr>
              <a:t>Mesin chatbot &amp; format jawaban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EE7"/>
                </a:solidFill>
              </a:rPr>
              <a:t>My LAIwyer, FinLAIwyer &amp; AntiScamDex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EE7"/>
                </a:solidFill>
              </a:rPr>
              <a:t>Tech stack lengkap: frontend, backend, AI, data, mobile, desktop, DevOps, QA, keamanan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6EEE7"/>
                </a:solidFill>
              </a:rPr>
              <a:t>Sistem desain, kepatuhan, batasan, peta jalan</a:t>
            </a:r>
            <a:endParaRPr lang="en-US" sz="1400" dirty="0"/>
          </a:p>
        </p:txBody>
      </p:sp>
      <p:sp>
        <p:nvSpPr>
          <p:cNvPr id="9" name="wp-download"/>
          <p:cNvSpPr/>
          <p:nvPr/>
        </p:nvSpPr>
        <p:spPr>
          <a:xfrm>
            <a:off x="5852160" y="4983480"/>
            <a:ext cx="5760720" cy="914400"/>
          </a:xfrm>
          <a:prstGeom prst="roundRect">
            <a:avLst>
              <a:gd name="adj" fmla="val 14000"/>
            </a:avLst>
          </a:prstGeom>
          <a:solidFill>
            <a:srgbClr val="152A23"/>
          </a:solidFill>
          <a:ln w="9525">
            <a:solidFill>
              <a:srgbClr val="283A31"/>
            </a:solidFill>
            <a:prstDash val="solid"/>
          </a:ln>
        </p:spPr>
      </p:sp>
      <p:pic>
        <p:nvPicPr>
          <p:cNvPr id="10" name="wp-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516636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66560" y="51389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EEE7"/>
                </a:solidFill>
              </a:rPr>
              <a:t>Unduh di aplikasi: </a:t>
            </a:r>
            <a:pPr indent="0" marL="0">
              <a:buNone/>
            </a:pPr>
            <a:r>
              <a:rPr lang="en-US" sz="1300" dirty="0">
                <a:solidFill>
                  <a:srgbClr val="9FB5A6"/>
                </a:solidFill>
              </a:rPr>
              <a:t>halaman /whitepaper — PDF Bahasa Indonesia &amp; English, plus presentasi ini (.pptx). Tersedia offline.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5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6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berikutnya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9FB5A6"/>
                </a:solidFill>
              </a:rPr>
              <a:t>Tag rilis v0.1.0 agar SBOM ditandatangani, aktifkan mode AI live dengan kunci API, rilis shell desktop Tauri, lalu siapkan akun store &amp; sertifikat tanda tangan.</a:t>
            </a:r>
            <a:endParaRPr lang="en-US" sz="2000" dirty="0"/>
          </a:p>
        </p:txBody>
      </p:sp>
      <p:sp>
        <p:nvSpPr>
          <p:cNvPr id="4" name="motif-line"/>
          <p:cNvSpPr/>
          <p:nvPr/>
        </p:nvSpPr>
        <p:spPr>
          <a:xfrm>
            <a:off x="9012422" y="1815775"/>
            <a:ext cx="881386" cy="1293185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5" name="motif-line"/>
          <p:cNvSpPr/>
          <p:nvPr/>
        </p:nvSpPr>
        <p:spPr>
          <a:xfrm flipV="1">
            <a:off x="9893808" y="1980953"/>
            <a:ext cx="435381" cy="1128007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6" name="motif-line"/>
          <p:cNvSpPr/>
          <p:nvPr/>
        </p:nvSpPr>
        <p:spPr>
          <a:xfrm>
            <a:off x="9195515" y="3030428"/>
            <a:ext cx="698293" cy="78532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7" name="motif-line"/>
          <p:cNvSpPr/>
          <p:nvPr/>
        </p:nvSpPr>
        <p:spPr>
          <a:xfrm flipV="1">
            <a:off x="9138048" y="3108960"/>
            <a:ext cx="755760" cy="613461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8" name="motif-line"/>
          <p:cNvSpPr/>
          <p:nvPr/>
        </p:nvSpPr>
        <p:spPr>
          <a:xfrm>
            <a:off x="9893808" y="3108960"/>
            <a:ext cx="1405416" cy="1060862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9" name="motif-line"/>
          <p:cNvSpPr/>
          <p:nvPr/>
        </p:nvSpPr>
        <p:spPr>
          <a:xfrm>
            <a:off x="8625746" y="2284185"/>
            <a:ext cx="1268062" cy="824775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0" name="motif-line"/>
          <p:cNvSpPr/>
          <p:nvPr/>
        </p:nvSpPr>
        <p:spPr>
          <a:xfrm flipV="1">
            <a:off x="9893808" y="2411734"/>
            <a:ext cx="1009013" cy="697226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1" name="motif-line"/>
          <p:cNvSpPr/>
          <p:nvPr/>
        </p:nvSpPr>
        <p:spPr>
          <a:xfrm flipV="1">
            <a:off x="8096887" y="3108960"/>
            <a:ext cx="1796921" cy="1048397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2" name="motif-line"/>
          <p:cNvSpPr/>
          <p:nvPr/>
        </p:nvSpPr>
        <p:spPr>
          <a:xfrm flipV="1">
            <a:off x="8801044" y="3108960"/>
            <a:ext cx="1092764" cy="291649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3" name="motif-line"/>
          <p:cNvSpPr/>
          <p:nvPr/>
        </p:nvSpPr>
        <p:spPr>
          <a:xfrm>
            <a:off x="8942261" y="931714"/>
            <a:ext cx="951547" cy="2177246"/>
          </a:xfrm>
          <a:prstGeom prst="line">
            <a:avLst/>
          </a:prstGeom>
          <a:noFill/>
          <a:ln w="9525">
            <a:solidFill>
              <a:srgbClr val="283A31"/>
            </a:solidFill>
            <a:prstDash val="solid"/>
          </a:ln>
        </p:spPr>
      </p:sp>
      <p:sp>
        <p:nvSpPr>
          <p:cNvPr id="14" name="motif-node"/>
          <p:cNvSpPr/>
          <p:nvPr/>
        </p:nvSpPr>
        <p:spPr>
          <a:xfrm>
            <a:off x="8971274" y="1774627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15" name="motif-node"/>
          <p:cNvSpPr/>
          <p:nvPr/>
        </p:nvSpPr>
        <p:spPr>
          <a:xfrm>
            <a:off x="11395051" y="2536901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16" name="motif-node"/>
          <p:cNvSpPr/>
          <p:nvPr/>
        </p:nvSpPr>
        <p:spPr>
          <a:xfrm>
            <a:off x="10288041" y="1939805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17" name="motif-node"/>
          <p:cNvSpPr/>
          <p:nvPr/>
        </p:nvSpPr>
        <p:spPr>
          <a:xfrm>
            <a:off x="11511434" y="2749116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18" name="motif-node"/>
          <p:cNvSpPr/>
          <p:nvPr/>
        </p:nvSpPr>
        <p:spPr>
          <a:xfrm>
            <a:off x="9154367" y="2989280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19" name="motif-node"/>
          <p:cNvSpPr/>
          <p:nvPr/>
        </p:nvSpPr>
        <p:spPr>
          <a:xfrm>
            <a:off x="11462245" y="4071406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0" name="motif-node"/>
          <p:cNvSpPr/>
          <p:nvPr/>
        </p:nvSpPr>
        <p:spPr>
          <a:xfrm>
            <a:off x="9096900" y="3681273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1" name="motif-node"/>
          <p:cNvSpPr/>
          <p:nvPr/>
        </p:nvSpPr>
        <p:spPr>
          <a:xfrm>
            <a:off x="10452749" y="859325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2" name="motif-node"/>
          <p:cNvSpPr/>
          <p:nvPr/>
        </p:nvSpPr>
        <p:spPr>
          <a:xfrm>
            <a:off x="11258076" y="4128674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3" name="motif-node"/>
          <p:cNvSpPr/>
          <p:nvPr/>
        </p:nvSpPr>
        <p:spPr>
          <a:xfrm>
            <a:off x="11115514" y="1523096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4" name="motif-node"/>
          <p:cNvSpPr/>
          <p:nvPr/>
        </p:nvSpPr>
        <p:spPr>
          <a:xfrm>
            <a:off x="8584598" y="2243037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5" name="motif-node"/>
          <p:cNvSpPr/>
          <p:nvPr/>
        </p:nvSpPr>
        <p:spPr>
          <a:xfrm>
            <a:off x="11016654" y="3635608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6" name="motif-node"/>
          <p:cNvSpPr/>
          <p:nvPr/>
        </p:nvSpPr>
        <p:spPr>
          <a:xfrm>
            <a:off x="10861673" y="2370586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7" name="motif-node"/>
          <p:cNvSpPr/>
          <p:nvPr/>
        </p:nvSpPr>
        <p:spPr>
          <a:xfrm>
            <a:off x="8914393" y="4092416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8" name="motif-node"/>
          <p:cNvSpPr/>
          <p:nvPr/>
        </p:nvSpPr>
        <p:spPr>
          <a:xfrm>
            <a:off x="8055739" y="4116209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29" name="motif-node"/>
          <p:cNvSpPr/>
          <p:nvPr/>
        </p:nvSpPr>
        <p:spPr>
          <a:xfrm>
            <a:off x="9676500" y="3175742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0" name="motif-node"/>
          <p:cNvSpPr/>
          <p:nvPr/>
        </p:nvSpPr>
        <p:spPr>
          <a:xfrm>
            <a:off x="8759896" y="3359461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1" name="motif-node"/>
          <p:cNvSpPr/>
          <p:nvPr/>
        </p:nvSpPr>
        <p:spPr>
          <a:xfrm>
            <a:off x="7739810" y="2522476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2" name="motif-node"/>
          <p:cNvSpPr/>
          <p:nvPr/>
        </p:nvSpPr>
        <p:spPr>
          <a:xfrm>
            <a:off x="8901113" y="890566"/>
            <a:ext cx="128016" cy="128016"/>
          </a:xfrm>
          <a:prstGeom prst="ellipse">
            <a:avLst/>
          </a:prstGeom>
          <a:solidFill>
            <a:srgbClr val="5BC795"/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3" name="motif-node"/>
          <p:cNvSpPr/>
          <p:nvPr/>
        </p:nvSpPr>
        <p:spPr>
          <a:xfrm>
            <a:off x="9462224" y="1568173"/>
            <a:ext cx="82296" cy="82296"/>
          </a:xfrm>
          <a:prstGeom prst="ellipse">
            <a:avLst/>
          </a:prstGeom>
          <a:solidFill>
            <a:srgbClr val="5BC795">
              <a:alpha val="55000"/>
            </a:srgbClr>
          </a:solidFill>
          <a:ln w="12700">
            <a:solidFill>
              <a:srgbClr val="5BC795"/>
            </a:solidFill>
            <a:prstDash val="solid"/>
          </a:ln>
        </p:spPr>
      </p:sp>
      <p:sp>
        <p:nvSpPr>
          <p:cNvPr id="34" name="motif-core"/>
          <p:cNvSpPr/>
          <p:nvPr/>
        </p:nvSpPr>
        <p:spPr>
          <a:xfrm>
            <a:off x="9774936" y="2990088"/>
            <a:ext cx="237744" cy="237744"/>
          </a:xfrm>
          <a:prstGeom prst="ellipse">
            <a:avLst/>
          </a:prstGeom>
          <a:solidFill>
            <a:srgbClr val="0F1F19"/>
          </a:solidFill>
          <a:ln w="25400">
            <a:solidFill>
              <a:srgbClr val="5BC79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1206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5A6"/>
                </a:solidFill>
              </a:rPr>
              <a:t>Finandex dirancang dan dikembangkan oleh Dea Saka Kurnia Putra — A BRIGHTER TOMORROW THROUGH MEANINGFUL WORK</a:t>
            </a:r>
            <a:endParaRPr lang="en-US" sz="1400" dirty="0"/>
          </a:p>
        </p:txBody>
      </p:sp>
      <p:pic>
        <p:nvPicPr>
          <p:cNvPr id="36" name="personal-mark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5806440"/>
            <a:ext cx="457200" cy="45720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325880" y="5897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5A6"/>
                </a:solidFill>
              </a:rPr>
              <a:t>© 2026 Dea Saka Kurnia Putra. Hak cipta dilindungi undang-undang.</a:t>
            </a:r>
            <a:endParaRPr lang="en-US" sz="1000" dirty="0"/>
          </a:p>
        </p:txBody>
      </p:sp>
      <p:sp>
        <p:nvSpPr>
          <p:cNvPr id="38" name="uts-group-line"/>
          <p:cNvSpPr txBox="1"/>
          <p:nvPr/>
        </p:nvSpPr>
        <p:spPr>
          <a:xfrm>
            <a:off x="731520" y="4617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5A6"/>
                </a:solidFill>
              </a:rPr>
              <a:t>UTS · Kelompok: DEA SAKA KURNIA PUTRA, ROSSY ARTANTI ZULAIEKHA, TAJUL TABRIZI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Finandex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Finandex — Gambaran Platform &amp; Tech Stack (UTS)</dc:title>
  <dc:subject>Ujian Tengah Semester (UTS)</dc:subject>
  <dc:creator>DEA SAKA KURNIA PUTRA; ROSSY ARTANTI ZULAIEKHA; TAJUL TABRIZI</dc:creator>
  <cp:lastModifiedBy>DEA SAKA KURNIA PUTRA; ROSSY ARTANTI ZULAIEKHA; TAJUL TABRIZI</cp:lastModifiedBy>
  <cp:revision>1</cp:revision>
  <dcterms:created xsi:type="dcterms:W3CDTF">2026-10-23T13:09:05Z</dcterms:created>
  <dcterms:modified xsi:type="dcterms:W3CDTF">2026-10-23T13:09:05Z</dcterms:modified>
</cp:coreProperties>
</file>